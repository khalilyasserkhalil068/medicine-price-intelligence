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ar-S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عدد المنتجات</c:v>
          </c:tx>
          <c:spPr>
            <a:solidFill>
              <a:srgbClr val="522D60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26182E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&lt;10</c:v>
                </c:pt>
                <c:pt idx="1">
                  <c:v>10–&lt;50</c:v>
                </c:pt>
                <c:pt idx="2">
                  <c:v>50–&lt;100</c:v>
                </c:pt>
                <c:pt idx="3">
                  <c:v>100–&lt;500</c:v>
                </c:pt>
                <c:pt idx="4">
                  <c:v>500–&lt;1,000</c:v>
                </c:pt>
                <c:pt idx="5">
                  <c:v>≥1,000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7442</c:v>
                </c:pt>
                <c:pt idx="1">
                  <c:v>6932</c:v>
                </c:pt>
                <c:pt idx="2">
                  <c:v>2264</c:v>
                </c:pt>
                <c:pt idx="3">
                  <c:v>2683</c:v>
                </c:pt>
                <c:pt idx="4">
                  <c:v>462</c:v>
                </c:pt>
                <c:pt idx="5">
                  <c:v>574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F8-4A7B-A7D2-3DEE45F9900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5DEE7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AF8F5"/>
        </a:solidFill>
      </c:spPr>
    </c:plotArea>
    <c:plotVisOnly val="1"/>
    <c:dispBlanksAs val="zero"/>
    <c:showDLblsOverMax val="1"/>
  </c:chart>
  <c:spPr>
    <a:solidFill>
      <a:srgbClr val="FAF8F5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ar-S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عدد المنتجات</c:v>
          </c:tx>
          <c:spPr>
            <a:solidFill>
              <a:srgbClr val="522D60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26182E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Data'!$A$2:$A$8</c:f>
              <c:strCache>
                <c:ptCount val="7"/>
                <c:pt idx="0">
                  <c:v>Incepta</c:v>
                </c:pt>
                <c:pt idx="1">
                  <c:v>Square</c:v>
                </c:pt>
                <c:pt idx="2">
                  <c:v>Opsonin</c:v>
                </c:pt>
                <c:pt idx="3">
                  <c:v>Beximco</c:v>
                </c:pt>
                <c:pt idx="4">
                  <c:v>ACME</c:v>
                </c:pt>
                <c:pt idx="5">
                  <c:v>ACI</c:v>
                </c:pt>
                <c:pt idx="6">
                  <c:v>Drug International</c:v>
                </c:pt>
              </c:strCache>
            </c:strRef>
          </c:cat>
          <c:val>
            <c:numRef>
              <c:f>'Chart Data'!$B$2:$B$8</c:f>
              <c:numCache>
                <c:formatCode>#,##0</c:formatCode>
                <c:ptCount val="7"/>
                <c:pt idx="0">
                  <c:v>1182</c:v>
                </c:pt>
                <c:pt idx="1">
                  <c:v>902</c:v>
                </c:pt>
                <c:pt idx="2">
                  <c:v>900</c:v>
                </c:pt>
                <c:pt idx="3">
                  <c:v>699</c:v>
                </c:pt>
                <c:pt idx="4">
                  <c:v>692</c:v>
                </c:pt>
                <c:pt idx="5">
                  <c:v>681</c:v>
                </c:pt>
                <c:pt idx="6">
                  <c:v>677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1-4721-B331-BF7F7A595A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5DEE7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AF8F5"/>
        </a:solidFill>
      </c:spPr>
    </c:plotArea>
    <c:plotVisOnly val="1"/>
    <c:dispBlanksAs val="zero"/>
    <c:showDLblsOverMax val="1"/>
  </c:chart>
  <c:spPr>
    <a:solidFill>
      <a:srgbClr val="FAF8F5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ar-S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السعر BDT</c:v>
          </c:tx>
          <c:spPr>
            <a:solidFill>
              <a:srgbClr val="522D60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26182E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Celofen</c:v>
                </c:pt>
                <c:pt idx="1">
                  <c:v>Group minimum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4.01</c:v>
                </c:pt>
                <c:pt idx="1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B3-4220-BF39-2CB83E27DB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5DEE7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AF8F5"/>
        </a:solidFill>
      </c:spPr>
    </c:plotArea>
    <c:plotVisOnly val="1"/>
    <c:dispBlanksAs val="zero"/>
    <c:showDLblsOverMax val="1"/>
  </c:chart>
  <c:spPr>
    <a:solidFill>
      <a:srgbClr val="FAF8F5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ar-S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وسيط المؤشر</c:v>
          </c:tx>
          <c:spPr>
            <a:solidFill>
              <a:srgbClr val="522D60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26182E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Gonoshasthaya</c:v>
                </c:pt>
                <c:pt idx="1">
                  <c:v>Delta</c:v>
                </c:pt>
                <c:pt idx="2">
                  <c:v>Marker</c:v>
                </c:pt>
                <c:pt idx="3">
                  <c:v>Orbit</c:v>
                </c:pt>
                <c:pt idx="4">
                  <c:v>Aexim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0.76</c:v>
                </c:pt>
                <c:pt idx="1">
                  <c:v>0.8</c:v>
                </c:pt>
                <c:pt idx="2">
                  <c:v>0.86</c:v>
                </c:pt>
                <c:pt idx="3">
                  <c:v>0.86</c:v>
                </c:pt>
                <c:pt idx="4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C8-4E67-9C8B-E9AE82337C4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5DEE7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AF8F5"/>
        </a:solidFill>
      </c:spPr>
    </c:plotArea>
    <c:plotVisOnly val="1"/>
    <c:dispBlanksAs val="zero"/>
    <c:showDLblsOverMax val="1"/>
  </c:chart>
  <c:spPr>
    <a:solidFill>
      <a:srgbClr val="FAF8F5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README.md وملفات المشروع. مشروع تحليل بيانات أدوية بنجلاديش. يركز العرض على المنهجية والنتائج والتحويل إلى تطبيقات تفاعلية.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README.md وnotebooks/07_alternatives_price_analysis.ipynb. البدائل هنا تطابق بيانات المنتج المسجلة، ولا تعني شهادة تكافؤ حيوي أو توصية علاجية.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المصادر: notebooks/01 إلى 07، sql/، utils/data_loader.py. المراحل مرتبة مفاهيميًا. التطبيقات الحالية تقرأ SQLite ونتائج CSV الجاهزة. سكربتات SQL الموجودة تستهدف SQL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data/medicine.db، أعداد الجداول من استعلامات COUNT. المصدر الأصلي موثق في README.md باسم Assorted Medicine Dataset of Bangladesh على Kaggle.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المصادر: notebooks/02_data_cleaning.ipynb، reports/cleaning_report.md، Summery.md. 20357 قيمة سعر متاحة و1357 مفقودة. منها 1279 حالة متعددة الأسعار، و42 وصفًا مفقودًا، و36 بلا معلومات سعر.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reports/cleaning_report.md وnotebooks/02_data_cleaning.ipynb. المثال توضيحي لنمط حقيقي موثق في المشروع. سعر الزجاجة أو الأنبوب يخص العبوة الموصوفة، ولا يمثل بالضرورة وحدة حجم قياسية.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المصادر: sql/02_create_tables.sql وsql/03_create_constraints.sql وsql/05_validation.sql. العلاقات من نوع واحد إلى متعدد حسب النموذج المسجل. generic_id يقبل NULL لدواءين ناقصين في المصدر.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data/medicine.db، vw_medicine_details. استُخدمت 20357 قيمة price غير مفقودة. الفئات يسار مغلقة ويمين مفتوحة. المتوسط 349.99 والوسيط 15.05 BDT. الأسعار تخص وحدات أو عبوات حسب وصف المنتج، فلا تمثل تكلفة جرعة موحدة.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data/medicine.db، تجميع عدد سجلات vw_medicine_details حسب manufacturer_name. الترتيب يعكس عدد المنتجات في البيانات ولا يقيس المبيعات أو الحصة السوقية.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notebooks/07_alternatives_price_analysis.ipynb. مفتاح التجميع generic_name + dosage_form_name + strength_normalized. يشترط التحليل سعرًا معروفًا، ودواءين مسعرين على الأقل، وأساس تسعير واحدًا داخل المجموعة.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المصادر: reports/analysis/alternatives_per_medicine.csv وalternatives_per_group.csv. 79.8% من جميع الأدوية القابلة للمقارنة لديها saving_pct أكبر من صفر. 28.6% وسيط التوفير بين الأدوية التي لها توفير موجب فقط. 15.4% من جميع الأدوية القابلة للمقارنة تحقق توفيرًا 50% فأكثر.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reports/analysis/alternatives_per_medicine.csv، brand_id=1. Celofen، Aceclofenac، Tablet، 100 mg، الشركة ACI Limited. سعره 4.01 وأقل سعر بالمجموعة 1.50 BDT. عدد المنتجات 103 وعدد البدائل 102. 30 وحدة مثال حسابي وليس جرعة أو وصفة علاجية.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reports/analysis/manufacturer_price_index.csv وnotebooks/07_alternatives_price_analysis.ipynb. Price Index = سعر المنتج / وسيط مجموعة المقارنة. مؤشر الشركة وسيط مؤشرات منتجاتها. 107 شركات لديها 30 منتجًا قابلًا للمقارنة على الأقل. الرسم يعرض خمس شركات من الطرف الأقل في المؤشر وليس توصية بالشراء.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المصادر: app.py، pages/، dashboard/app.py، dashboard/static/dashboard.js، index.html. Streamlit يقرأ utils/data_loader.py. Flask يقدم API مستقلة تقرأ SQLite وCSV. صفحة HTML الرئيسية تحتوي أمثلة مضمّنة وليست بديلًا عن قاعدة البيانات.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المصادر: README.md، notebooks/07_alternatives_price_analysis.ipynb، utils/analysis.py، dashboard/app.py. الفرق الحالي: notebook يفلتر مجموعات أساس التسعير المختلط بينما البحث المباشر في التطبيق يعتمد تطابق generic والشكل والتركيز. التطوير هنا مقترح مستقبلي، ولم ينفذ ضمن هذا العرض.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المصادر: هيكل المشروع وREADME.md. مخرجات منفذة: تنظيف، مخطط علائقي، SQL Server scripts، SQLite، notebooks تحليل، تقارير CSV ورسومات، Streamlit وFlask وبوابة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ملفات المشروع الفعلية. الملحق مرجع سريع للمناقشة. notebooks/03 يفحص الربط ويصدر mappings أيضًا، و04 يعيد توليدها كخطوة مستقلة.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ملفات المشروع الفعلية. utils/ui للتنسيق. run_*.py لاختيار منفذ متاح. ملفات bat تبحث عن Python وتفحص المتطلبات. Summery.md يحتوي سياقًا تاريخيًا لا يعكس بالضرورة أحدث حالة.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88C6281-DE76-43F8-89B9-FE71B1A2B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4833FDC-3CBC-4089-8B5B-36524A73B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6D72B52-CEF3-468B-9E56-1D8E9745C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4259BFE-EB38-46F0-A413-809DFBE92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88AB478-FA2F-4040-BCA9-6C0112A7D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5E8E6C5-393A-404C-A145-A94B68B3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A79FD33-8481-41EB-817D-61A63C29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317A8CA-B4B3-4787-8D69-15D737869F2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C5A9588-76D2-4C3A-B26E-BAED4678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0C59C3-D5A0-46A9-966D-193099C34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2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مستطيل 19">
            <a:extLst>
              <a:ext uri="{FF2B5EF4-FFF2-40B4-BE49-F238E27FC236}">
                <a16:creationId xmlns:a16="http://schemas.microsoft.com/office/drawing/2014/main" id="{A26FA996-F13C-4945-A342-69500580CC24}"/>
              </a:ext>
            </a:extLst>
          </p:cNvPr>
          <p:cNvSpPr>
            <a:spLocks noGrp="1"/>
          </p:cNvSpPr>
          <p:nvPr/>
        </p:nvSpPr>
        <p:spPr>
          <a:xfrm>
            <a:off x="10733818" y="535305"/>
            <a:ext cx="800957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تحليل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916F2306-45AC-443F-A821-A53300EEDB4A}"/>
              </a:ext>
            </a:extLst>
          </p:cNvPr>
          <p:cNvSpPr>
            <a:spLocks noGrp="1"/>
          </p:cNvSpPr>
          <p:nvPr/>
        </p:nvSpPr>
        <p:spPr>
          <a:xfrm>
            <a:off x="9774365" y="535305"/>
            <a:ext cx="843058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أسعار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36E42647-5A3A-4F25-8394-AAE77B6C953D}"/>
              </a:ext>
            </a:extLst>
          </p:cNvPr>
          <p:cNvSpPr>
            <a:spLocks noGrp="1"/>
          </p:cNvSpPr>
          <p:nvPr/>
        </p:nvSpPr>
        <p:spPr>
          <a:xfrm>
            <a:off x="8751094" y="535305"/>
            <a:ext cx="906875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وبدائل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822EEA85-DC8C-4A58-ACE0-2BBF94B311E4}"/>
              </a:ext>
            </a:extLst>
          </p:cNvPr>
          <p:cNvSpPr>
            <a:spLocks noGrp="1"/>
          </p:cNvSpPr>
          <p:nvPr/>
        </p:nvSpPr>
        <p:spPr>
          <a:xfrm>
            <a:off x="7652861" y="535305"/>
            <a:ext cx="981837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الأدوية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257AD1CC-88D4-468B-BCEC-E27D2B51F833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FFD3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D3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D3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D3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D3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D3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D3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D3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D3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D38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FFD3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D3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5E25DC38-AA03-417D-B72F-5315343647C8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7050" b="1">
                <a:solidFill>
                  <a:srgbClr val="FFD38B"/>
                </a:solidFill>
                <a:latin typeface="Arial"/>
                <a:ea typeface="Arial"/>
                <a:cs typeface="Arial"/>
              </a:defRPr>
            </a:defPPr>
            <a:lvl1pPr algn="l">
              <a:defRPr sz="7050" b="1">
                <a:solidFill>
                  <a:srgbClr val="FFD38B"/>
                </a:solidFill>
                <a:latin typeface="Arial"/>
                <a:ea typeface="Arial"/>
                <a:cs typeface="Arial"/>
              </a:defRPr>
            </a:lvl1pPr>
            <a:lvl2pPr algn="l">
              <a:defRPr sz="7050" b="1">
                <a:solidFill>
                  <a:srgbClr val="FFD38B"/>
                </a:solidFill>
                <a:latin typeface="Arial"/>
                <a:ea typeface="Arial"/>
                <a:cs typeface="Arial"/>
              </a:defRPr>
            </a:lvl2pPr>
            <a:lvl3pPr algn="l">
              <a:defRPr sz="7050" b="1">
                <a:solidFill>
                  <a:srgbClr val="FFD38B"/>
                </a:solidFill>
                <a:latin typeface="Arial"/>
                <a:ea typeface="Arial"/>
                <a:cs typeface="Arial"/>
              </a:defRPr>
            </a:lvl3pPr>
            <a:lvl4pPr algn="l">
              <a:defRPr sz="7050" b="1">
                <a:solidFill>
                  <a:srgbClr val="FFD38B"/>
                </a:solidFill>
                <a:latin typeface="Arial"/>
                <a:ea typeface="Arial"/>
                <a:cs typeface="Arial"/>
              </a:defRPr>
            </a:lvl4pPr>
            <a:lvl5pPr algn="l">
              <a:defRPr sz="7050" b="1">
                <a:solidFill>
                  <a:srgbClr val="FFD38B"/>
                </a:solidFill>
                <a:latin typeface="Arial"/>
                <a:ea typeface="Arial"/>
                <a:cs typeface="Arial"/>
              </a:defRPr>
            </a:lvl5pPr>
            <a:lvl6pPr algn="l">
              <a:defRPr sz="7050" b="1">
                <a:solidFill>
                  <a:srgbClr val="FFD38B"/>
                </a:solidFill>
                <a:latin typeface="Arial"/>
                <a:ea typeface="Arial"/>
                <a:cs typeface="Arial"/>
              </a:defRPr>
            </a:lvl6pPr>
            <a:lvl7pPr algn="l">
              <a:defRPr sz="7050" b="1">
                <a:solidFill>
                  <a:srgbClr val="FFD38B"/>
                </a:solidFill>
                <a:latin typeface="Arial"/>
                <a:ea typeface="Arial"/>
                <a:cs typeface="Arial"/>
              </a:defRPr>
            </a:lvl7pPr>
            <a:lvl8pPr algn="l">
              <a:defRPr sz="7050" b="1">
                <a:solidFill>
                  <a:srgbClr val="FFD38B"/>
                </a:solidFill>
                <a:latin typeface="Arial"/>
                <a:ea typeface="Arial"/>
                <a:cs typeface="Arial"/>
              </a:defRPr>
            </a:lvl8pPr>
            <a:lvl9pPr algn="l">
              <a:defRPr sz="7050" b="1">
                <a:solidFill>
                  <a:srgbClr val="FFD38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050" b="1">
                <a:solidFill>
                  <a:srgbClr val="FFD38B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D38B"/>
                </a:solidFill>
                <a:latin typeface="Arial"/>
                <a:ea typeface="Arial"/>
                <a:cs typeface="Arial"/>
              </a:rPr>
              <a:t>MedicineDB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77FD0FFD-4268-4558-9116-5023F5599A5B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Assorted Medicine Dataset 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CE2D32DA-6EFA-4C12-A8AC-DAC473CC2FAB}"/>
              </a:ext>
            </a:extLst>
          </p:cNvPr>
          <p:cNvSpPr>
            <a:spLocks noGrp="1"/>
          </p:cNvSpPr>
          <p:nvPr/>
        </p:nvSpPr>
        <p:spPr>
          <a:xfrm>
            <a:off x="10505789" y="4442460"/>
            <a:ext cx="952786" cy="5067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مشروع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7B2BB432-B736-412F-96BB-27FFAF21A510}"/>
              </a:ext>
            </a:extLst>
          </p:cNvPr>
          <p:cNvSpPr>
            <a:spLocks noGrp="1"/>
          </p:cNvSpPr>
          <p:nvPr/>
        </p:nvSpPr>
        <p:spPr>
          <a:xfrm>
            <a:off x="9704451" y="4442460"/>
            <a:ext cx="700754" cy="5067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تحليل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4DEBCE47-D838-4566-A604-0AD86F266C81}"/>
              </a:ext>
            </a:extLst>
          </p:cNvPr>
          <p:cNvSpPr>
            <a:spLocks noGrp="1"/>
          </p:cNvSpPr>
          <p:nvPr/>
        </p:nvSpPr>
        <p:spPr>
          <a:xfrm>
            <a:off x="8837676" y="4442460"/>
            <a:ext cx="766191" cy="5067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بيانات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74F27C60-7BF6-4477-8451-9F6EE5AF63D0}"/>
              </a:ext>
            </a:extLst>
          </p:cNvPr>
          <p:cNvSpPr>
            <a:spLocks noGrp="1"/>
          </p:cNvSpPr>
          <p:nvPr/>
        </p:nvSpPr>
        <p:spPr>
          <a:xfrm>
            <a:off x="7893177" y="4442460"/>
            <a:ext cx="843915" cy="5067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متكامل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F90BDFCB-A674-4D81-B67B-80AA6856C7A0}"/>
              </a:ext>
            </a:extLst>
          </p:cNvPr>
          <p:cNvSpPr>
            <a:spLocks noGrp="1"/>
          </p:cNvSpPr>
          <p:nvPr/>
        </p:nvSpPr>
        <p:spPr>
          <a:xfrm>
            <a:off x="11000232" y="5198745"/>
            <a:ext cx="458343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DDEB"/>
                </a:solidFill>
                <a:latin typeface="Arial"/>
                <a:ea typeface="Arial"/>
                <a:cs typeface="Arial"/>
              </a:rPr>
              <a:t>جودة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8DD3DE47-538C-4B10-9154-060B46B5315C}"/>
              </a:ext>
            </a:extLst>
          </p:cNvPr>
          <p:cNvSpPr>
            <a:spLocks noGrp="1"/>
          </p:cNvSpPr>
          <p:nvPr/>
        </p:nvSpPr>
        <p:spPr>
          <a:xfrm>
            <a:off x="10211562" y="5198745"/>
            <a:ext cx="719900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DDEB"/>
                </a:solidFill>
                <a:latin typeface="Arial"/>
                <a:ea typeface="Arial"/>
                <a:cs typeface="Arial"/>
              </a:rPr>
              <a:t>البيانات،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2B0342D6-9FB2-4CA4-BF5A-3AB35F9C02CD}"/>
              </a:ext>
            </a:extLst>
          </p:cNvPr>
          <p:cNvSpPr>
            <a:spLocks noGrp="1"/>
          </p:cNvSpPr>
          <p:nvPr/>
        </p:nvSpPr>
        <p:spPr>
          <a:xfrm>
            <a:off x="9637776" y="5198745"/>
            <a:ext cx="505016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DDEB"/>
                </a:solidFill>
                <a:latin typeface="Arial"/>
                <a:ea typeface="Arial"/>
                <a:cs typeface="Arial"/>
              </a:rPr>
              <a:t>قواعد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B56166D3-03AF-4B9B-A33C-6D27291DFDF3}"/>
              </a:ext>
            </a:extLst>
          </p:cNvPr>
          <p:cNvSpPr>
            <a:spLocks noGrp="1"/>
          </p:cNvSpPr>
          <p:nvPr/>
        </p:nvSpPr>
        <p:spPr>
          <a:xfrm>
            <a:off x="8849106" y="5198745"/>
            <a:ext cx="719900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DDEB"/>
                </a:solidFill>
                <a:latin typeface="Arial"/>
                <a:ea typeface="Arial"/>
                <a:cs typeface="Arial"/>
              </a:rPr>
              <a:t>البيانات،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2095E586-3B7B-4601-A317-81BC86CF7CA6}"/>
              </a:ext>
            </a:extLst>
          </p:cNvPr>
          <p:cNvSpPr>
            <a:spLocks noGrp="1"/>
          </p:cNvSpPr>
          <p:nvPr/>
        </p:nvSpPr>
        <p:spPr>
          <a:xfrm>
            <a:off x="8284845" y="5198745"/>
            <a:ext cx="495491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DDEB"/>
                </a:solidFill>
                <a:latin typeface="Arial"/>
                <a:ea typeface="Arial"/>
                <a:cs typeface="Arial"/>
              </a:rPr>
              <a:t>تحليل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6C564A7E-FED1-4F41-BB68-9CB0922B2BD1}"/>
              </a:ext>
            </a:extLst>
          </p:cNvPr>
          <p:cNvSpPr>
            <a:spLocks noGrp="1"/>
          </p:cNvSpPr>
          <p:nvPr/>
        </p:nvSpPr>
        <p:spPr>
          <a:xfrm>
            <a:off x="7556468" y="5198745"/>
            <a:ext cx="659606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DDEB"/>
                </a:solidFill>
                <a:latin typeface="Arial"/>
                <a:ea typeface="Arial"/>
                <a:cs typeface="Arial"/>
              </a:rPr>
              <a:t>الأسعار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AC444BF7-9662-461D-8D40-3C72A0F5D18C}"/>
              </a:ext>
            </a:extLst>
          </p:cNvPr>
          <p:cNvSpPr>
            <a:spLocks noGrp="1"/>
          </p:cNvSpPr>
          <p:nvPr/>
        </p:nvSpPr>
        <p:spPr>
          <a:xfrm>
            <a:off x="6587490" y="5198745"/>
            <a:ext cx="900208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DDEB"/>
                </a:solidFill>
                <a:latin typeface="Arial"/>
                <a:ea typeface="Arial"/>
                <a:cs typeface="Arial"/>
              </a:rPr>
              <a:t>والتطبيقات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7BADA33E-D59D-4A14-BE56-3F33063FAF0D}"/>
              </a:ext>
            </a:extLst>
          </p:cNvPr>
          <p:cNvSpPr>
            <a:spLocks noGrp="1"/>
          </p:cNvSpPr>
          <p:nvPr/>
        </p:nvSpPr>
        <p:spPr>
          <a:xfrm>
            <a:off x="5832348" y="5198745"/>
            <a:ext cx="686371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F1DD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DDEB"/>
                </a:solidFill>
                <a:latin typeface="Arial"/>
                <a:ea typeface="Arial"/>
                <a:cs typeface="Arial"/>
              </a:rPr>
              <a:t>التفاعلية</a:t>
            </a:r>
          </a:p>
        </p:txBody>
      </p:sp>
    </p:spTree>
    <p:extLst>
      <p:ext uri="{BB962C8B-B14F-4D97-AF65-F5344CB8AC3E}">
        <p14:creationId xmlns:p14="http://schemas.microsoft.com/office/powerpoint/2010/main" val="36390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مستطيل 38">
            <a:extLst>
              <a:ext uri="{FF2B5EF4-FFF2-40B4-BE49-F238E27FC236}">
                <a16:creationId xmlns:a16="http://schemas.microsoft.com/office/drawing/2014/main" id="{490ECA4D-1577-4FF9-BF64-125A7F1882E0}"/>
              </a:ext>
            </a:extLst>
          </p:cNvPr>
          <p:cNvSpPr>
            <a:spLocks noGrp="1"/>
          </p:cNvSpPr>
          <p:nvPr/>
        </p:nvSpPr>
        <p:spPr>
          <a:xfrm>
            <a:off x="10810399" y="535305"/>
            <a:ext cx="724376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هدف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F6D2679B-6298-4D8C-ACC8-84157BC67B3C}"/>
              </a:ext>
            </a:extLst>
          </p:cNvPr>
          <p:cNvSpPr>
            <a:spLocks noGrp="1"/>
          </p:cNvSpPr>
          <p:nvPr/>
        </p:nvSpPr>
        <p:spPr>
          <a:xfrm>
            <a:off x="9412224" y="535305"/>
            <a:ext cx="1281779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المشروع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35E9516A-E27F-429B-9FCB-BA8521E9CE78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98008518-5A0D-4D3C-ADE4-B46860BDBD4F}"/>
              </a:ext>
            </a:extLst>
          </p:cNvPr>
          <p:cNvSpPr>
            <a:spLocks noGrp="1"/>
          </p:cNvSpPr>
          <p:nvPr/>
        </p:nvSpPr>
        <p:spPr>
          <a:xfrm>
            <a:off x="10439495" y="1813560"/>
            <a:ext cx="923830" cy="5734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مقارنة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2C3B0DB8-6772-440C-832C-E565550A1766}"/>
              </a:ext>
            </a:extLst>
          </p:cNvPr>
          <p:cNvSpPr>
            <a:spLocks noGrp="1"/>
          </p:cNvSpPr>
          <p:nvPr/>
        </p:nvSpPr>
        <p:spPr>
          <a:xfrm>
            <a:off x="9301067" y="1813560"/>
            <a:ext cx="1024604" cy="5734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الأسعار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B75E81ED-E518-40D8-B6A1-4549210A96C8}"/>
              </a:ext>
            </a:extLst>
          </p:cNvPr>
          <p:cNvSpPr>
            <a:spLocks noGrp="1"/>
          </p:cNvSpPr>
          <p:nvPr/>
        </p:nvSpPr>
        <p:spPr>
          <a:xfrm>
            <a:off x="8492204" y="1813560"/>
            <a:ext cx="695039" cy="5734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داخل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8101D4C8-68D2-413C-8EAB-7ACF3EA744B8}"/>
              </a:ext>
            </a:extLst>
          </p:cNvPr>
          <p:cNvSpPr>
            <a:spLocks noGrp="1"/>
          </p:cNvSpPr>
          <p:nvPr/>
        </p:nvSpPr>
        <p:spPr>
          <a:xfrm>
            <a:off x="6988969" y="1813560"/>
            <a:ext cx="1389412" cy="5734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مجموعات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A358C10B-EE86-4066-A4DC-8C830D381050}"/>
              </a:ext>
            </a:extLst>
          </p:cNvPr>
          <p:cNvSpPr>
            <a:spLocks noGrp="1"/>
          </p:cNvSpPr>
          <p:nvPr/>
        </p:nvSpPr>
        <p:spPr>
          <a:xfrm>
            <a:off x="5839682" y="1813560"/>
            <a:ext cx="1035463" cy="5734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منتجات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48DFBF89-BFA5-4851-991E-3064AE05AC75}"/>
              </a:ext>
            </a:extLst>
          </p:cNvPr>
          <p:cNvSpPr>
            <a:spLocks noGrp="1"/>
          </p:cNvSpPr>
          <p:nvPr/>
        </p:nvSpPr>
        <p:spPr>
          <a:xfrm>
            <a:off x="4653629" y="1813560"/>
            <a:ext cx="1072229" cy="5734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2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متطابقة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C7D9E4F9-A39F-4C34-A3CC-AF471B9BFF00}"/>
              </a:ext>
            </a:extLst>
          </p:cNvPr>
          <p:cNvSpPr>
            <a:spLocks noGrp="1"/>
          </p:cNvSpPr>
          <p:nvPr/>
        </p:nvSpPr>
        <p:spPr>
          <a:xfrm>
            <a:off x="10724198" y="2987993"/>
            <a:ext cx="543877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سؤال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B541BEA8-5067-44B3-A16E-F39908811BA7}"/>
              </a:ext>
            </a:extLst>
          </p:cNvPr>
          <p:cNvSpPr>
            <a:spLocks noGrp="1"/>
          </p:cNvSpPr>
          <p:nvPr/>
        </p:nvSpPr>
        <p:spPr>
          <a:xfrm>
            <a:off x="9972199" y="2987993"/>
            <a:ext cx="675227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التحليل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3C8BB095-8249-4FDA-97FA-B70AF46878B0}"/>
              </a:ext>
            </a:extLst>
          </p:cNvPr>
          <p:cNvSpPr>
            <a:spLocks noGrp="1"/>
          </p:cNvSpPr>
          <p:nvPr/>
        </p:nvSpPr>
        <p:spPr>
          <a:xfrm>
            <a:off x="6347555" y="3095625"/>
            <a:ext cx="21517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ما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76ED3D78-96ED-415F-BA1F-95702588A501}"/>
              </a:ext>
            </a:extLst>
          </p:cNvPr>
          <p:cNvSpPr>
            <a:spLocks noGrp="1"/>
          </p:cNvSpPr>
          <p:nvPr/>
        </p:nvSpPr>
        <p:spPr>
          <a:xfrm>
            <a:off x="5881878" y="3095625"/>
            <a:ext cx="39947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حجم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823FC4DC-38EE-4BD5-8FEA-8204C70CA3B5}"/>
              </a:ext>
            </a:extLst>
          </p:cNvPr>
          <p:cNvSpPr>
            <a:spLocks noGrp="1"/>
          </p:cNvSpPr>
          <p:nvPr/>
        </p:nvSpPr>
        <p:spPr>
          <a:xfrm>
            <a:off x="5184648" y="3095625"/>
            <a:ext cx="63103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اختلاف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2D9573BA-70DA-46BC-B687-DA2A75E5CB26}"/>
              </a:ext>
            </a:extLst>
          </p:cNvPr>
          <p:cNvSpPr>
            <a:spLocks noGrp="1"/>
          </p:cNvSpPr>
          <p:nvPr/>
        </p:nvSpPr>
        <p:spPr>
          <a:xfrm>
            <a:off x="4481703" y="3095625"/>
            <a:ext cx="63674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الأسعار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BF62EB4B-432D-47B2-A1A6-E6488EBDE792}"/>
              </a:ext>
            </a:extLst>
          </p:cNvPr>
          <p:cNvSpPr>
            <a:spLocks noGrp="1"/>
          </p:cNvSpPr>
          <p:nvPr/>
        </p:nvSpPr>
        <p:spPr>
          <a:xfrm>
            <a:off x="4107371" y="3095625"/>
            <a:ext cx="30813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بين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82D1DA39-8644-4EEA-83AD-9DE89D83A81D}"/>
              </a:ext>
            </a:extLst>
          </p:cNvPr>
          <p:cNvSpPr>
            <a:spLocks noGrp="1"/>
          </p:cNvSpPr>
          <p:nvPr/>
        </p:nvSpPr>
        <p:spPr>
          <a:xfrm>
            <a:off x="3320701" y="3095625"/>
            <a:ext cx="72047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العلامات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2E0F84DC-E904-4AB4-9446-71A98869604E}"/>
              </a:ext>
            </a:extLst>
          </p:cNvPr>
          <p:cNvSpPr>
            <a:spLocks noGrp="1"/>
          </p:cNvSpPr>
          <p:nvPr/>
        </p:nvSpPr>
        <p:spPr>
          <a:xfrm>
            <a:off x="2501551" y="3095625"/>
            <a:ext cx="75295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التجارية؟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51B3F21C-97B9-4E81-8BD1-C875CA47673F}"/>
              </a:ext>
            </a:extLst>
          </p:cNvPr>
          <p:cNvSpPr>
            <a:spLocks noGrp="1"/>
          </p:cNvSpPr>
          <p:nvPr/>
        </p:nvSpPr>
        <p:spPr>
          <a:xfrm>
            <a:off x="10623328" y="3883343"/>
            <a:ext cx="644747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مقارنة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4DB418AE-C790-4971-92D3-E71AEA8DEC2C}"/>
              </a:ext>
            </a:extLst>
          </p:cNvPr>
          <p:cNvSpPr>
            <a:spLocks noGrp="1"/>
          </p:cNvSpPr>
          <p:nvPr/>
        </p:nvSpPr>
        <p:spPr>
          <a:xfrm>
            <a:off x="9926098" y="3883343"/>
            <a:ext cx="620458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البدائل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2D34DB65-5B32-4699-9444-80C3A2D987CD}"/>
              </a:ext>
            </a:extLst>
          </p:cNvPr>
          <p:cNvSpPr>
            <a:spLocks noGrp="1"/>
          </p:cNvSpPr>
          <p:nvPr/>
        </p:nvSpPr>
        <p:spPr>
          <a:xfrm>
            <a:off x="6347555" y="3990975"/>
            <a:ext cx="21517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ما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8AE04954-3F1D-4D0D-8E3E-CC639AC25D3F}"/>
              </a:ext>
            </a:extLst>
          </p:cNvPr>
          <p:cNvSpPr>
            <a:spLocks noGrp="1"/>
          </p:cNvSpPr>
          <p:nvPr/>
        </p:nvSpPr>
        <p:spPr>
          <a:xfrm>
            <a:off x="5661374" y="3990975"/>
            <a:ext cx="61998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أرخص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E12CEF5C-569B-4DFC-A598-4A365DCA10E3}"/>
              </a:ext>
            </a:extLst>
          </p:cNvPr>
          <p:cNvSpPr>
            <a:spLocks noGrp="1"/>
          </p:cNvSpPr>
          <p:nvPr/>
        </p:nvSpPr>
        <p:spPr>
          <a:xfrm>
            <a:off x="5191887" y="3990975"/>
            <a:ext cx="4032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سعر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046AD697-556C-49A8-A795-507D1B5BB94A}"/>
              </a:ext>
            </a:extLst>
          </p:cNvPr>
          <p:cNvSpPr>
            <a:spLocks noGrp="1"/>
          </p:cNvSpPr>
          <p:nvPr/>
        </p:nvSpPr>
        <p:spPr>
          <a:xfrm>
            <a:off x="4693444" y="3990975"/>
            <a:ext cx="43224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لنفس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15BB333F-C9B2-495B-8B9C-D495ED2839FC}"/>
              </a:ext>
            </a:extLst>
          </p:cNvPr>
          <p:cNvSpPr>
            <a:spLocks noGrp="1"/>
          </p:cNvSpPr>
          <p:nvPr/>
        </p:nvSpPr>
        <p:spPr>
          <a:xfrm>
            <a:off x="4412647" y="3990975"/>
            <a:ext cx="21459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الـ</a:t>
            </a:r>
          </a:p>
        </p:txBody>
      </p:sp>
      <p:sp>
        <p:nvSpPr>
          <p:cNvPr id="26" name="مستطيل 25">
            <a:extLst>
              <a:ext uri="{FF2B5EF4-FFF2-40B4-BE49-F238E27FC236}">
                <a16:creationId xmlns:a16="http://schemas.microsoft.com/office/drawing/2014/main" id="{9C536D4E-6BA4-4235-A8CE-0354448DB52B}"/>
              </a:ext>
            </a:extLst>
          </p:cNvPr>
          <p:cNvSpPr>
            <a:spLocks noGrp="1"/>
          </p:cNvSpPr>
          <p:nvPr/>
        </p:nvSpPr>
        <p:spPr>
          <a:xfrm>
            <a:off x="3498818" y="3990975"/>
            <a:ext cx="84763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generic</a:t>
            </a:r>
          </a:p>
        </p:txBody>
      </p:sp>
      <p:sp>
        <p:nvSpPr>
          <p:cNvPr id="27" name="مستطيل 26">
            <a:extLst>
              <a:ext uri="{FF2B5EF4-FFF2-40B4-BE49-F238E27FC236}">
                <a16:creationId xmlns:a16="http://schemas.microsoft.com/office/drawing/2014/main" id="{1672B092-A679-4DE6-B7E4-3B1CE325A613}"/>
              </a:ext>
            </a:extLst>
          </p:cNvPr>
          <p:cNvSpPr>
            <a:spLocks noGrp="1"/>
          </p:cNvSpPr>
          <p:nvPr/>
        </p:nvSpPr>
        <p:spPr>
          <a:xfrm>
            <a:off x="2823686" y="3990975"/>
            <a:ext cx="60893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والشكل</a:t>
            </a:r>
          </a:p>
        </p:txBody>
      </p:sp>
      <p:sp>
        <p:nvSpPr>
          <p:cNvPr id="28" name="مستطيل 27">
            <a:extLst>
              <a:ext uri="{FF2B5EF4-FFF2-40B4-BE49-F238E27FC236}">
                <a16:creationId xmlns:a16="http://schemas.microsoft.com/office/drawing/2014/main" id="{DD3C0A35-D1AD-4231-9FED-8D4C3B2E0ADA}"/>
              </a:ext>
            </a:extLst>
          </p:cNvPr>
          <p:cNvSpPr>
            <a:spLocks noGrp="1"/>
          </p:cNvSpPr>
          <p:nvPr/>
        </p:nvSpPr>
        <p:spPr>
          <a:xfrm>
            <a:off x="1961579" y="3990975"/>
            <a:ext cx="79590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والتركيز؟</a:t>
            </a:r>
          </a:p>
        </p:txBody>
      </p:sp>
      <p:sp>
        <p:nvSpPr>
          <p:cNvPr id="29" name="مستطيل 28">
            <a:extLst>
              <a:ext uri="{FF2B5EF4-FFF2-40B4-BE49-F238E27FC236}">
                <a16:creationId xmlns:a16="http://schemas.microsoft.com/office/drawing/2014/main" id="{A89092C9-FCDB-4992-B27A-B6B93E5A50C9}"/>
              </a:ext>
            </a:extLst>
          </p:cNvPr>
          <p:cNvSpPr>
            <a:spLocks noGrp="1"/>
          </p:cNvSpPr>
          <p:nvPr/>
        </p:nvSpPr>
        <p:spPr>
          <a:xfrm>
            <a:off x="10812685" y="4778693"/>
            <a:ext cx="455390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الأثر</a:t>
            </a:r>
          </a:p>
        </p:txBody>
      </p:sp>
      <p:sp>
        <p:nvSpPr>
          <p:cNvPr id="30" name="مستطيل 29">
            <a:extLst>
              <a:ext uri="{FF2B5EF4-FFF2-40B4-BE49-F238E27FC236}">
                <a16:creationId xmlns:a16="http://schemas.microsoft.com/office/drawing/2014/main" id="{2C51BC2F-3204-4FE6-9094-A555F6F150DE}"/>
              </a:ext>
            </a:extLst>
          </p:cNvPr>
          <p:cNvSpPr>
            <a:spLocks noGrp="1"/>
          </p:cNvSpPr>
          <p:nvPr/>
        </p:nvSpPr>
        <p:spPr>
          <a:xfrm>
            <a:off x="9843230" y="4778693"/>
            <a:ext cx="892683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للمستخدم</a:t>
            </a:r>
          </a:p>
        </p:txBody>
      </p: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5887A033-ACF1-4991-AEE3-BE7BC1D08931}"/>
              </a:ext>
            </a:extLst>
          </p:cNvPr>
          <p:cNvSpPr>
            <a:spLocks noGrp="1"/>
          </p:cNvSpPr>
          <p:nvPr/>
        </p:nvSpPr>
        <p:spPr>
          <a:xfrm>
            <a:off x="6321743" y="4886325"/>
            <a:ext cx="24098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كم</a:t>
            </a:r>
          </a:p>
        </p:txBody>
      </p:sp>
      <p:sp>
        <p:nvSpPr>
          <p:cNvPr id="32" name="مستطيل 31">
            <a:extLst>
              <a:ext uri="{FF2B5EF4-FFF2-40B4-BE49-F238E27FC236}">
                <a16:creationId xmlns:a16="http://schemas.microsoft.com/office/drawing/2014/main" id="{59C8CF2D-7225-4E19-B733-58CCF332807A}"/>
              </a:ext>
            </a:extLst>
          </p:cNvPr>
          <p:cNvSpPr>
            <a:spLocks noGrp="1"/>
          </p:cNvSpPr>
          <p:nvPr/>
        </p:nvSpPr>
        <p:spPr>
          <a:xfrm>
            <a:off x="5916073" y="4886325"/>
            <a:ext cx="33947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تبلغ</a:t>
            </a:r>
          </a:p>
        </p:txBody>
      </p:sp>
      <p:sp>
        <p:nvSpPr>
          <p:cNvPr id="33" name="مستطيل 32">
            <a:extLst>
              <a:ext uri="{FF2B5EF4-FFF2-40B4-BE49-F238E27FC236}">
                <a16:creationId xmlns:a16="http://schemas.microsoft.com/office/drawing/2014/main" id="{527173FA-C1C4-4781-85EE-C5BAB4CE78CD}"/>
              </a:ext>
            </a:extLst>
          </p:cNvPr>
          <p:cNvSpPr>
            <a:spLocks noGrp="1"/>
          </p:cNvSpPr>
          <p:nvPr/>
        </p:nvSpPr>
        <p:spPr>
          <a:xfrm>
            <a:off x="5312283" y="4886325"/>
            <a:ext cx="53759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فرصة</a:t>
            </a:r>
          </a:p>
        </p:txBody>
      </p:sp>
      <p:sp>
        <p:nvSpPr>
          <p:cNvPr id="34" name="مستطيل 33">
            <a:extLst>
              <a:ext uri="{FF2B5EF4-FFF2-40B4-BE49-F238E27FC236}">
                <a16:creationId xmlns:a16="http://schemas.microsoft.com/office/drawing/2014/main" id="{0EA8BE26-03F9-4732-AA3B-FA2BF775FFBE}"/>
              </a:ext>
            </a:extLst>
          </p:cNvPr>
          <p:cNvSpPr>
            <a:spLocks noGrp="1"/>
          </p:cNvSpPr>
          <p:nvPr/>
        </p:nvSpPr>
        <p:spPr>
          <a:xfrm>
            <a:off x="4681538" y="4886325"/>
            <a:ext cx="56454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التوفير</a:t>
            </a:r>
          </a:p>
        </p:txBody>
      </p:sp>
      <p:sp>
        <p:nvSpPr>
          <p:cNvPr id="35" name="مستطيل 34">
            <a:extLst>
              <a:ext uri="{FF2B5EF4-FFF2-40B4-BE49-F238E27FC236}">
                <a16:creationId xmlns:a16="http://schemas.microsoft.com/office/drawing/2014/main" id="{0862AADB-3B7C-4405-A5CA-82EEE28E76CF}"/>
              </a:ext>
            </a:extLst>
          </p:cNvPr>
          <p:cNvSpPr>
            <a:spLocks noGrp="1"/>
          </p:cNvSpPr>
          <p:nvPr/>
        </p:nvSpPr>
        <p:spPr>
          <a:xfrm>
            <a:off x="4284917" y="4886325"/>
            <a:ext cx="33042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عند</a:t>
            </a:r>
          </a:p>
        </p:txBody>
      </p:sp>
      <p:sp>
        <p:nvSpPr>
          <p:cNvPr id="36" name="مستطيل 35">
            <a:extLst>
              <a:ext uri="{FF2B5EF4-FFF2-40B4-BE49-F238E27FC236}">
                <a16:creationId xmlns:a16="http://schemas.microsoft.com/office/drawing/2014/main" id="{1A5A5716-08C2-4B7B-92B5-693BBDC2C143}"/>
              </a:ext>
            </a:extLst>
          </p:cNvPr>
          <p:cNvSpPr>
            <a:spLocks noGrp="1"/>
          </p:cNvSpPr>
          <p:nvPr/>
        </p:nvSpPr>
        <p:spPr>
          <a:xfrm>
            <a:off x="3761708" y="4886325"/>
            <a:ext cx="45700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شراء</a:t>
            </a:r>
          </a:p>
        </p:txBody>
      </p:sp>
      <p:sp>
        <p:nvSpPr>
          <p:cNvPr id="37" name="مستطيل 36">
            <a:extLst>
              <a:ext uri="{FF2B5EF4-FFF2-40B4-BE49-F238E27FC236}">
                <a16:creationId xmlns:a16="http://schemas.microsoft.com/office/drawing/2014/main" id="{FA5FE565-9611-4AFE-ADFA-09B08BBF616B}"/>
              </a:ext>
            </a:extLst>
          </p:cNvPr>
          <p:cNvSpPr>
            <a:spLocks noGrp="1"/>
          </p:cNvSpPr>
          <p:nvPr/>
        </p:nvSpPr>
        <p:spPr>
          <a:xfrm>
            <a:off x="3293745" y="4886325"/>
            <a:ext cx="40176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كمية</a:t>
            </a:r>
          </a:p>
        </p:txBody>
      </p:sp>
      <p:sp>
        <p:nvSpPr>
          <p:cNvPr id="38" name="مستطيل 37">
            <a:extLst>
              <a:ext uri="{FF2B5EF4-FFF2-40B4-BE49-F238E27FC236}">
                <a16:creationId xmlns:a16="http://schemas.microsoft.com/office/drawing/2014/main" id="{974B2685-9F5F-4DE4-9A4E-8D34F54F5ADD}"/>
              </a:ext>
            </a:extLst>
          </p:cNvPr>
          <p:cNvSpPr>
            <a:spLocks noGrp="1"/>
          </p:cNvSpPr>
          <p:nvPr/>
        </p:nvSpPr>
        <p:spPr>
          <a:xfrm>
            <a:off x="2628138" y="4886325"/>
            <a:ext cx="59940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محددة؟</a:t>
            </a:r>
          </a:p>
        </p:txBody>
      </p:sp>
    </p:spTree>
    <p:extLst>
      <p:ext uri="{BB962C8B-B14F-4D97-AF65-F5344CB8AC3E}">
        <p14:creationId xmlns:p14="http://schemas.microsoft.com/office/powerpoint/2010/main" val="65481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مستطيل 44">
            <a:extLst>
              <a:ext uri="{FF2B5EF4-FFF2-40B4-BE49-F238E27FC236}">
                <a16:creationId xmlns:a16="http://schemas.microsoft.com/office/drawing/2014/main" id="{A9984BC4-3E57-4349-8A3D-EBB82D32AD0E}"/>
              </a:ext>
            </a:extLst>
          </p:cNvPr>
          <p:cNvSpPr>
            <a:spLocks noGrp="1"/>
          </p:cNvSpPr>
          <p:nvPr/>
        </p:nvSpPr>
        <p:spPr>
          <a:xfrm>
            <a:off x="10810399" y="535305"/>
            <a:ext cx="724376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دورة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F940E65E-3F37-4865-9FE6-F72E5F283D2C}"/>
              </a:ext>
            </a:extLst>
          </p:cNvPr>
          <p:cNvSpPr>
            <a:spLocks noGrp="1"/>
          </p:cNvSpPr>
          <p:nvPr/>
        </p:nvSpPr>
        <p:spPr>
          <a:xfrm>
            <a:off x="9924193" y="535305"/>
            <a:ext cx="769810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العمل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C50F56D3-CC5B-4E0D-BCD9-3F0B4CA672F7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4FADAA09-9513-4730-992E-C261B15356B6}"/>
              </a:ext>
            </a:extLst>
          </p:cNvPr>
          <p:cNvSpPr>
            <a:spLocks noGrp="1"/>
          </p:cNvSpPr>
          <p:nvPr/>
        </p:nvSpPr>
        <p:spPr>
          <a:xfrm>
            <a:off x="10894124" y="1559243"/>
            <a:ext cx="373951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71F75180-D159-406F-B796-5274D02AF84C}"/>
              </a:ext>
            </a:extLst>
          </p:cNvPr>
          <p:cNvSpPr>
            <a:spLocks noGrp="1"/>
          </p:cNvSpPr>
          <p:nvPr/>
        </p:nvSpPr>
        <p:spPr>
          <a:xfrm>
            <a:off x="10228421" y="1559243"/>
            <a:ext cx="588931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فحص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65354211-11C4-4A16-B5C2-1C705BD98D85}"/>
              </a:ext>
            </a:extLst>
          </p:cNvPr>
          <p:cNvSpPr>
            <a:spLocks noGrp="1"/>
          </p:cNvSpPr>
          <p:nvPr/>
        </p:nvSpPr>
        <p:spPr>
          <a:xfrm>
            <a:off x="9426512" y="1559243"/>
            <a:ext cx="725138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06EBC5D8-444D-455A-B0B2-33919426B175}"/>
              </a:ext>
            </a:extLst>
          </p:cNvPr>
          <p:cNvSpPr>
            <a:spLocks noGrp="1"/>
          </p:cNvSpPr>
          <p:nvPr/>
        </p:nvSpPr>
        <p:spPr>
          <a:xfrm>
            <a:off x="5635752" y="1666875"/>
            <a:ext cx="92697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Profiling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E030246D-DD32-494E-8DB1-CD974DCBAF1B}"/>
              </a:ext>
            </a:extLst>
          </p:cNvPr>
          <p:cNvSpPr>
            <a:spLocks noGrp="1"/>
          </p:cNvSpPr>
          <p:nvPr/>
        </p:nvSpPr>
        <p:spPr>
          <a:xfrm>
            <a:off x="5436680" y="1666875"/>
            <a:ext cx="13287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CFBF7DBB-ED48-4CB9-B649-881AEA96C4EC}"/>
              </a:ext>
            </a:extLst>
          </p:cNvPr>
          <p:cNvSpPr>
            <a:spLocks noGrp="1"/>
          </p:cNvSpPr>
          <p:nvPr/>
        </p:nvSpPr>
        <p:spPr>
          <a:xfrm>
            <a:off x="4709160" y="1666875"/>
            <a:ext cx="66132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الأنواع،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52F6F851-C741-44F3-A002-A0E6F1C72715}"/>
              </a:ext>
            </a:extLst>
          </p:cNvPr>
          <p:cNvSpPr>
            <a:spLocks noGrp="1"/>
          </p:cNvSpPr>
          <p:nvPr/>
        </p:nvSpPr>
        <p:spPr>
          <a:xfrm>
            <a:off x="4276535" y="1666875"/>
            <a:ext cx="36642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القيم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8F8BBCC1-CF20-4D37-8B6D-A806A7FA160F}"/>
              </a:ext>
            </a:extLst>
          </p:cNvPr>
          <p:cNvSpPr>
            <a:spLocks noGrp="1"/>
          </p:cNvSpPr>
          <p:nvPr/>
        </p:nvSpPr>
        <p:spPr>
          <a:xfrm>
            <a:off x="3577781" y="1666875"/>
            <a:ext cx="63255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الناقصة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C4605067-FBBA-4EB4-8A15-057F99F98AD6}"/>
              </a:ext>
            </a:extLst>
          </p:cNvPr>
          <p:cNvSpPr>
            <a:spLocks noGrp="1"/>
          </p:cNvSpPr>
          <p:nvPr/>
        </p:nvSpPr>
        <p:spPr>
          <a:xfrm>
            <a:off x="2809399" y="1666875"/>
            <a:ext cx="70218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والتكرار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9480D5C1-D689-4CA8-8DBB-2A5822CDEA9B}"/>
              </a:ext>
            </a:extLst>
          </p:cNvPr>
          <p:cNvSpPr>
            <a:spLocks noGrp="1"/>
          </p:cNvSpPr>
          <p:nvPr/>
        </p:nvSpPr>
        <p:spPr>
          <a:xfrm>
            <a:off x="10894124" y="2416493"/>
            <a:ext cx="373951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E64562FA-1B35-4A8E-A2CA-E1C0EC5BF061}"/>
              </a:ext>
            </a:extLst>
          </p:cNvPr>
          <p:cNvSpPr>
            <a:spLocks noGrp="1"/>
          </p:cNvSpPr>
          <p:nvPr/>
        </p:nvSpPr>
        <p:spPr>
          <a:xfrm>
            <a:off x="10047161" y="2416493"/>
            <a:ext cx="770192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التنظيف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EB40946C-0C2C-4D0B-B5E7-7EFCE8EDDBFD}"/>
              </a:ext>
            </a:extLst>
          </p:cNvPr>
          <p:cNvSpPr>
            <a:spLocks noGrp="1"/>
          </p:cNvSpPr>
          <p:nvPr/>
        </p:nvSpPr>
        <p:spPr>
          <a:xfrm>
            <a:off x="9315355" y="2416493"/>
            <a:ext cx="655034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والربط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0AAE4840-2CD6-47FB-9AD5-2C7D3C6D276C}"/>
              </a:ext>
            </a:extLst>
          </p:cNvPr>
          <p:cNvSpPr>
            <a:spLocks noGrp="1"/>
          </p:cNvSpPr>
          <p:nvPr/>
        </p:nvSpPr>
        <p:spPr>
          <a:xfrm>
            <a:off x="5836348" y="2524125"/>
            <a:ext cx="72637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استخراج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B259E516-C193-4E65-A0F6-65BB878BA941}"/>
              </a:ext>
            </a:extLst>
          </p:cNvPr>
          <p:cNvSpPr>
            <a:spLocks noGrp="1"/>
          </p:cNvSpPr>
          <p:nvPr/>
        </p:nvSpPr>
        <p:spPr>
          <a:xfrm>
            <a:off x="5133403" y="2524125"/>
            <a:ext cx="63674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الأسعار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FD589092-7EDD-4BF5-86F7-77123B4BADCD}"/>
              </a:ext>
            </a:extLst>
          </p:cNvPr>
          <p:cNvSpPr>
            <a:spLocks noGrp="1"/>
          </p:cNvSpPr>
          <p:nvPr/>
        </p:nvSpPr>
        <p:spPr>
          <a:xfrm>
            <a:off x="4471987" y="2524125"/>
            <a:ext cx="59521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وتوحيد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40EDEB5F-2DF7-4AFF-91E4-E70A6557993C}"/>
              </a:ext>
            </a:extLst>
          </p:cNvPr>
          <p:cNvSpPr>
            <a:spLocks noGrp="1"/>
          </p:cNvSpPr>
          <p:nvPr/>
        </p:nvSpPr>
        <p:spPr>
          <a:xfrm>
            <a:off x="3616452" y="2524125"/>
            <a:ext cx="78933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النصوص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D28BD507-7D73-4B2E-8FAF-5E95D53F0857}"/>
              </a:ext>
            </a:extLst>
          </p:cNvPr>
          <p:cNvSpPr>
            <a:spLocks noGrp="1"/>
          </p:cNvSpPr>
          <p:nvPr/>
        </p:nvSpPr>
        <p:spPr>
          <a:xfrm>
            <a:off x="3067717" y="2524125"/>
            <a:ext cx="48253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وربط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A808220D-BA11-44DC-B40B-03C06BE89AD3}"/>
              </a:ext>
            </a:extLst>
          </p:cNvPr>
          <p:cNvSpPr>
            <a:spLocks noGrp="1"/>
          </p:cNvSpPr>
          <p:nvPr/>
        </p:nvSpPr>
        <p:spPr>
          <a:xfrm>
            <a:off x="2243995" y="2524125"/>
            <a:ext cx="75752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المعرّفات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7EA58EE3-DBDF-446F-8B5C-61CAE0101C40}"/>
              </a:ext>
            </a:extLst>
          </p:cNvPr>
          <p:cNvSpPr>
            <a:spLocks noGrp="1"/>
          </p:cNvSpPr>
          <p:nvPr/>
        </p:nvSpPr>
        <p:spPr>
          <a:xfrm>
            <a:off x="10894124" y="3273743"/>
            <a:ext cx="373951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FE392CB0-7163-41A4-B8C2-48FC9671FE65}"/>
              </a:ext>
            </a:extLst>
          </p:cNvPr>
          <p:cNvSpPr>
            <a:spLocks noGrp="1"/>
          </p:cNvSpPr>
          <p:nvPr/>
        </p:nvSpPr>
        <p:spPr>
          <a:xfrm>
            <a:off x="10262997" y="3273743"/>
            <a:ext cx="554355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قاعدة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47B222FA-E827-4DF2-8D64-7A07716F7EED}"/>
              </a:ext>
            </a:extLst>
          </p:cNvPr>
          <p:cNvSpPr>
            <a:spLocks noGrp="1"/>
          </p:cNvSpPr>
          <p:nvPr/>
        </p:nvSpPr>
        <p:spPr>
          <a:xfrm>
            <a:off x="9461087" y="3273743"/>
            <a:ext cx="725138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900BF433-D9EB-48E4-9485-BD9053E66570}"/>
              </a:ext>
            </a:extLst>
          </p:cNvPr>
          <p:cNvSpPr>
            <a:spLocks noGrp="1"/>
          </p:cNvSpPr>
          <p:nvPr/>
        </p:nvSpPr>
        <p:spPr>
          <a:xfrm>
            <a:off x="6016752" y="3381375"/>
            <a:ext cx="54597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جداول</a:t>
            </a:r>
          </a:p>
        </p:txBody>
      </p:sp>
      <p:sp>
        <p:nvSpPr>
          <p:cNvPr id="26" name="مستطيل 25">
            <a:extLst>
              <a:ext uri="{FF2B5EF4-FFF2-40B4-BE49-F238E27FC236}">
                <a16:creationId xmlns:a16="http://schemas.microsoft.com/office/drawing/2014/main" id="{D28CFB8D-AE03-49CA-B058-E6EF0860E85E}"/>
              </a:ext>
            </a:extLst>
          </p:cNvPr>
          <p:cNvSpPr>
            <a:spLocks noGrp="1"/>
          </p:cNvSpPr>
          <p:nvPr/>
        </p:nvSpPr>
        <p:spPr>
          <a:xfrm>
            <a:off x="5280279" y="3381375"/>
            <a:ext cx="67027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مترابطة</a:t>
            </a:r>
          </a:p>
        </p:txBody>
      </p:sp>
      <p:sp>
        <p:nvSpPr>
          <p:cNvPr id="27" name="مستطيل 26">
            <a:extLst>
              <a:ext uri="{FF2B5EF4-FFF2-40B4-BE49-F238E27FC236}">
                <a16:creationId xmlns:a16="http://schemas.microsoft.com/office/drawing/2014/main" id="{B418DAA4-286D-495E-8392-4494EA2D3EE4}"/>
              </a:ext>
            </a:extLst>
          </p:cNvPr>
          <p:cNvSpPr>
            <a:spLocks noGrp="1"/>
          </p:cNvSpPr>
          <p:nvPr/>
        </p:nvSpPr>
        <p:spPr>
          <a:xfrm>
            <a:off x="4739449" y="3381375"/>
            <a:ext cx="47463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وقيود</a:t>
            </a:r>
          </a:p>
        </p:txBody>
      </p:sp>
      <p:sp>
        <p:nvSpPr>
          <p:cNvPr id="28" name="مستطيل 27">
            <a:extLst>
              <a:ext uri="{FF2B5EF4-FFF2-40B4-BE49-F238E27FC236}">
                <a16:creationId xmlns:a16="http://schemas.microsoft.com/office/drawing/2014/main" id="{982A842F-17C4-4F2A-A617-BDDBE682C39F}"/>
              </a:ext>
            </a:extLst>
          </p:cNvPr>
          <p:cNvSpPr>
            <a:spLocks noGrp="1"/>
          </p:cNvSpPr>
          <p:nvPr/>
        </p:nvSpPr>
        <p:spPr>
          <a:xfrm>
            <a:off x="3714655" y="3381375"/>
            <a:ext cx="95859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واستعلامات</a:t>
            </a:r>
          </a:p>
        </p:txBody>
      </p:sp>
      <p:sp>
        <p:nvSpPr>
          <p:cNvPr id="29" name="مستطيل 28">
            <a:extLst>
              <a:ext uri="{FF2B5EF4-FFF2-40B4-BE49-F238E27FC236}">
                <a16:creationId xmlns:a16="http://schemas.microsoft.com/office/drawing/2014/main" id="{39F59F7E-A4FA-4058-BE08-FB3653959672}"/>
              </a:ext>
            </a:extLst>
          </p:cNvPr>
          <p:cNvSpPr>
            <a:spLocks noGrp="1"/>
          </p:cNvSpPr>
          <p:nvPr/>
        </p:nvSpPr>
        <p:spPr>
          <a:xfrm>
            <a:off x="3196495" y="3381375"/>
            <a:ext cx="45196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تحقق</a:t>
            </a:r>
          </a:p>
        </p:txBody>
      </p:sp>
      <p:sp>
        <p:nvSpPr>
          <p:cNvPr id="30" name="مستطيل 29">
            <a:extLst>
              <a:ext uri="{FF2B5EF4-FFF2-40B4-BE49-F238E27FC236}">
                <a16:creationId xmlns:a16="http://schemas.microsoft.com/office/drawing/2014/main" id="{DEF885B0-6C34-4DB0-BF2D-97B762EF060E}"/>
              </a:ext>
            </a:extLst>
          </p:cNvPr>
          <p:cNvSpPr>
            <a:spLocks noGrp="1"/>
          </p:cNvSpPr>
          <p:nvPr/>
        </p:nvSpPr>
        <p:spPr>
          <a:xfrm>
            <a:off x="10894124" y="4130993"/>
            <a:ext cx="373951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369889A9-725A-4C4E-95DF-14AE6B43734D}"/>
              </a:ext>
            </a:extLst>
          </p:cNvPr>
          <p:cNvSpPr>
            <a:spLocks noGrp="1"/>
          </p:cNvSpPr>
          <p:nvPr/>
        </p:nvSpPr>
        <p:spPr>
          <a:xfrm>
            <a:off x="10142125" y="4130993"/>
            <a:ext cx="675227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التحليل</a:t>
            </a:r>
          </a:p>
        </p:txBody>
      </p:sp>
      <p:sp>
        <p:nvSpPr>
          <p:cNvPr id="32" name="مستطيل 31">
            <a:extLst>
              <a:ext uri="{FF2B5EF4-FFF2-40B4-BE49-F238E27FC236}">
                <a16:creationId xmlns:a16="http://schemas.microsoft.com/office/drawing/2014/main" id="{E34627A6-802A-4C7D-B8C2-759B9858EFDF}"/>
              </a:ext>
            </a:extLst>
          </p:cNvPr>
          <p:cNvSpPr>
            <a:spLocks noGrp="1"/>
          </p:cNvSpPr>
          <p:nvPr/>
        </p:nvSpPr>
        <p:spPr>
          <a:xfrm>
            <a:off x="6006465" y="4238625"/>
            <a:ext cx="55626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EDA</a:t>
            </a:r>
          </a:p>
        </p:txBody>
      </p:sp>
      <p:sp>
        <p:nvSpPr>
          <p:cNvPr id="33" name="مستطيل 32">
            <a:extLst>
              <a:ext uri="{FF2B5EF4-FFF2-40B4-BE49-F238E27FC236}">
                <a16:creationId xmlns:a16="http://schemas.microsoft.com/office/drawing/2014/main" id="{38228397-18B1-4739-8DF0-6053B2B3484C}"/>
              </a:ext>
            </a:extLst>
          </p:cNvPr>
          <p:cNvSpPr>
            <a:spLocks noGrp="1"/>
          </p:cNvSpPr>
          <p:nvPr/>
        </p:nvSpPr>
        <p:spPr>
          <a:xfrm>
            <a:off x="5735002" y="4238625"/>
            <a:ext cx="20526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ثم</a:t>
            </a:r>
          </a:p>
        </p:txBody>
      </p:sp>
      <p:sp>
        <p:nvSpPr>
          <p:cNvPr id="34" name="مستطيل 33">
            <a:extLst>
              <a:ext uri="{FF2B5EF4-FFF2-40B4-BE49-F238E27FC236}">
                <a16:creationId xmlns:a16="http://schemas.microsoft.com/office/drawing/2014/main" id="{DFF52EFF-4AF6-4BE3-8A70-ACD3EE0DC64F}"/>
              </a:ext>
            </a:extLst>
          </p:cNvPr>
          <p:cNvSpPr>
            <a:spLocks noGrp="1"/>
          </p:cNvSpPr>
          <p:nvPr/>
        </p:nvSpPr>
        <p:spPr>
          <a:xfrm>
            <a:off x="4835652" y="4238625"/>
            <a:ext cx="83315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مجموعات</a:t>
            </a:r>
          </a:p>
        </p:txBody>
      </p:sp>
      <p:sp>
        <p:nvSpPr>
          <p:cNvPr id="35" name="مستطيل 34">
            <a:extLst>
              <a:ext uri="{FF2B5EF4-FFF2-40B4-BE49-F238E27FC236}">
                <a16:creationId xmlns:a16="http://schemas.microsoft.com/office/drawing/2014/main" id="{7103C369-F3E7-4F11-B0EE-E7C7904134F4}"/>
              </a:ext>
            </a:extLst>
          </p:cNvPr>
          <p:cNvSpPr>
            <a:spLocks noGrp="1"/>
          </p:cNvSpPr>
          <p:nvPr/>
        </p:nvSpPr>
        <p:spPr>
          <a:xfrm>
            <a:off x="4237672" y="4238625"/>
            <a:ext cx="53178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البدائل</a:t>
            </a:r>
          </a:p>
        </p:txBody>
      </p:sp>
      <p:sp>
        <p:nvSpPr>
          <p:cNvPr id="36" name="مستطيل 35">
            <a:extLst>
              <a:ext uri="{FF2B5EF4-FFF2-40B4-BE49-F238E27FC236}">
                <a16:creationId xmlns:a16="http://schemas.microsoft.com/office/drawing/2014/main" id="{F2BF2995-2002-460F-B416-15D4E5C04769}"/>
              </a:ext>
            </a:extLst>
          </p:cNvPr>
          <p:cNvSpPr>
            <a:spLocks noGrp="1"/>
          </p:cNvSpPr>
          <p:nvPr/>
        </p:nvSpPr>
        <p:spPr>
          <a:xfrm>
            <a:off x="3343180" y="4238625"/>
            <a:ext cx="82829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ومؤشرات</a:t>
            </a:r>
          </a:p>
        </p:txBody>
      </p:sp>
      <p:sp>
        <p:nvSpPr>
          <p:cNvPr id="37" name="مستطيل 36">
            <a:extLst>
              <a:ext uri="{FF2B5EF4-FFF2-40B4-BE49-F238E27FC236}">
                <a16:creationId xmlns:a16="http://schemas.microsoft.com/office/drawing/2014/main" id="{52461946-5E39-4BAF-9D6B-AF08A7C03981}"/>
              </a:ext>
            </a:extLst>
          </p:cNvPr>
          <p:cNvSpPr>
            <a:spLocks noGrp="1"/>
          </p:cNvSpPr>
          <p:nvPr/>
        </p:nvSpPr>
        <p:spPr>
          <a:xfrm>
            <a:off x="2640235" y="4238625"/>
            <a:ext cx="63674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الأسعار</a:t>
            </a:r>
          </a:p>
        </p:txBody>
      </p:sp>
      <p:sp>
        <p:nvSpPr>
          <p:cNvPr id="38" name="مستطيل 37">
            <a:extLst>
              <a:ext uri="{FF2B5EF4-FFF2-40B4-BE49-F238E27FC236}">
                <a16:creationId xmlns:a16="http://schemas.microsoft.com/office/drawing/2014/main" id="{D50706F9-6501-4324-8DCE-16912D32B21F}"/>
              </a:ext>
            </a:extLst>
          </p:cNvPr>
          <p:cNvSpPr>
            <a:spLocks noGrp="1"/>
          </p:cNvSpPr>
          <p:nvPr/>
        </p:nvSpPr>
        <p:spPr>
          <a:xfrm>
            <a:off x="10894124" y="4988243"/>
            <a:ext cx="373951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9" name="مستطيل 38">
            <a:extLst>
              <a:ext uri="{FF2B5EF4-FFF2-40B4-BE49-F238E27FC236}">
                <a16:creationId xmlns:a16="http://schemas.microsoft.com/office/drawing/2014/main" id="{9B5176D7-1B52-4D80-A03E-50647B0ADBBB}"/>
              </a:ext>
            </a:extLst>
          </p:cNvPr>
          <p:cNvSpPr>
            <a:spLocks noGrp="1"/>
          </p:cNvSpPr>
          <p:nvPr/>
        </p:nvSpPr>
        <p:spPr>
          <a:xfrm>
            <a:off x="10188226" y="4988243"/>
            <a:ext cx="629126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عرض</a:t>
            </a:r>
          </a:p>
        </p:txBody>
      </p:sp>
      <p:sp>
        <p:nvSpPr>
          <p:cNvPr id="40" name="مستطيل 39">
            <a:extLst>
              <a:ext uri="{FF2B5EF4-FFF2-40B4-BE49-F238E27FC236}">
                <a16:creationId xmlns:a16="http://schemas.microsoft.com/office/drawing/2014/main" id="{C10CF880-3C15-44CD-A823-D8BD769D604A}"/>
              </a:ext>
            </a:extLst>
          </p:cNvPr>
          <p:cNvSpPr>
            <a:spLocks noGrp="1"/>
          </p:cNvSpPr>
          <p:nvPr/>
        </p:nvSpPr>
        <p:spPr>
          <a:xfrm>
            <a:off x="9476137" y="4988243"/>
            <a:ext cx="635318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النتائج</a:t>
            </a:r>
          </a:p>
        </p:txBody>
      </p:sp>
      <p:sp>
        <p:nvSpPr>
          <p:cNvPr id="41" name="مستطيل 40">
            <a:extLst>
              <a:ext uri="{FF2B5EF4-FFF2-40B4-BE49-F238E27FC236}">
                <a16:creationId xmlns:a16="http://schemas.microsoft.com/office/drawing/2014/main" id="{23466148-EF79-4A71-B402-5B14C40BEFC8}"/>
              </a:ext>
            </a:extLst>
          </p:cNvPr>
          <p:cNvSpPr>
            <a:spLocks noGrp="1"/>
          </p:cNvSpPr>
          <p:nvPr/>
        </p:nvSpPr>
        <p:spPr>
          <a:xfrm>
            <a:off x="5556599" y="5095875"/>
            <a:ext cx="100612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42" name="مستطيل 41">
            <a:extLst>
              <a:ext uri="{FF2B5EF4-FFF2-40B4-BE49-F238E27FC236}">
                <a16:creationId xmlns:a16="http://schemas.microsoft.com/office/drawing/2014/main" id="{0ED32BA2-61C9-4FC1-B92F-EE17AB4F595D}"/>
              </a:ext>
            </a:extLst>
          </p:cNvPr>
          <p:cNvSpPr>
            <a:spLocks noGrp="1"/>
          </p:cNvSpPr>
          <p:nvPr/>
        </p:nvSpPr>
        <p:spPr>
          <a:xfrm>
            <a:off x="4751927" y="5095875"/>
            <a:ext cx="73847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وFlask</a:t>
            </a:r>
          </a:p>
        </p:txBody>
      </p:sp>
      <p:sp>
        <p:nvSpPr>
          <p:cNvPr id="43" name="مستطيل 42">
            <a:extLst>
              <a:ext uri="{FF2B5EF4-FFF2-40B4-BE49-F238E27FC236}">
                <a16:creationId xmlns:a16="http://schemas.microsoft.com/office/drawing/2014/main" id="{FE94F755-6CD0-416D-B5B8-89B759DB0404}"/>
              </a:ext>
            </a:extLst>
          </p:cNvPr>
          <p:cNvSpPr>
            <a:spLocks noGrp="1"/>
          </p:cNvSpPr>
          <p:nvPr/>
        </p:nvSpPr>
        <p:spPr>
          <a:xfrm>
            <a:off x="4049935" y="5095875"/>
            <a:ext cx="63579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وتقارير</a:t>
            </a:r>
          </a:p>
        </p:txBody>
      </p:sp>
      <p:sp>
        <p:nvSpPr>
          <p:cNvPr id="44" name="مستطيل 43">
            <a:extLst>
              <a:ext uri="{FF2B5EF4-FFF2-40B4-BE49-F238E27FC236}">
                <a16:creationId xmlns:a16="http://schemas.microsoft.com/office/drawing/2014/main" id="{04FCA152-8986-444C-A9F2-F7CD30D211D0}"/>
              </a:ext>
            </a:extLst>
          </p:cNvPr>
          <p:cNvSpPr>
            <a:spLocks noGrp="1"/>
          </p:cNvSpPr>
          <p:nvPr/>
        </p:nvSpPr>
        <p:spPr>
          <a:xfrm>
            <a:off x="3446050" y="5095875"/>
            <a:ext cx="53768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التسليم</a:t>
            </a:r>
          </a:p>
        </p:txBody>
      </p:sp>
    </p:spTree>
    <p:extLst>
      <p:ext uri="{BB962C8B-B14F-4D97-AF65-F5344CB8AC3E}">
        <p14:creationId xmlns:p14="http://schemas.microsoft.com/office/powerpoint/2010/main" val="872212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مستطيل 23">
            <a:extLst>
              <a:ext uri="{FF2B5EF4-FFF2-40B4-BE49-F238E27FC236}">
                <a16:creationId xmlns:a16="http://schemas.microsoft.com/office/drawing/2014/main" id="{1A99FC03-ED65-4D34-98B1-2D2527DF45D7}"/>
              </a:ext>
            </a:extLst>
          </p:cNvPr>
          <p:cNvSpPr>
            <a:spLocks noGrp="1"/>
          </p:cNvSpPr>
          <p:nvPr/>
        </p:nvSpPr>
        <p:spPr>
          <a:xfrm>
            <a:off x="10780109" y="535305"/>
            <a:ext cx="754666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نطاق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731DF9D6-8113-41D6-9398-C201CE5284D4}"/>
              </a:ext>
            </a:extLst>
          </p:cNvPr>
          <p:cNvSpPr>
            <a:spLocks noGrp="1"/>
          </p:cNvSpPr>
          <p:nvPr/>
        </p:nvSpPr>
        <p:spPr>
          <a:xfrm>
            <a:off x="9597961" y="535305"/>
            <a:ext cx="1065752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5CAA75E8-4D4C-4CD3-91F8-CE50A0A9D0A7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D215BE10-2904-4221-8A2E-5DBDE3619562}"/>
              </a:ext>
            </a:extLst>
          </p:cNvPr>
          <p:cNvSpPr>
            <a:spLocks noGrp="1"/>
          </p:cNvSpPr>
          <p:nvPr/>
        </p:nvSpPr>
        <p:spPr>
          <a:xfrm>
            <a:off x="7905750" y="1666875"/>
            <a:ext cx="3143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21,714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5C334ED5-18F6-4617-81B7-DEB6A5E97EB2}"/>
              </a:ext>
            </a:extLst>
          </p:cNvPr>
          <p:cNvSpPr>
            <a:spLocks noGrp="1"/>
          </p:cNvSpPr>
          <p:nvPr/>
        </p:nvSpPr>
        <p:spPr>
          <a:xfrm>
            <a:off x="9847516" y="2906078"/>
            <a:ext cx="469678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سجل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C4861190-7B5E-4ECC-992E-66A1B3D888EF}"/>
              </a:ext>
            </a:extLst>
          </p:cNvPr>
          <p:cNvSpPr>
            <a:spLocks noGrp="1"/>
          </p:cNvSpPr>
          <p:nvPr/>
        </p:nvSpPr>
        <p:spPr>
          <a:xfrm>
            <a:off x="9352121" y="2906078"/>
            <a:ext cx="423958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دواء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266162DB-3B41-47B7-84EC-0D8523759413}"/>
              </a:ext>
            </a:extLst>
          </p:cNvPr>
          <p:cNvSpPr>
            <a:spLocks noGrp="1"/>
          </p:cNvSpPr>
          <p:nvPr/>
        </p:nvSpPr>
        <p:spPr>
          <a:xfrm>
            <a:off x="8666131" y="2906078"/>
            <a:ext cx="614553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تجاري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C2086E0C-495D-4C0D-ACE3-DFBE5228F8EF}"/>
              </a:ext>
            </a:extLst>
          </p:cNvPr>
          <p:cNvSpPr>
            <a:spLocks noGrp="1"/>
          </p:cNvSpPr>
          <p:nvPr/>
        </p:nvSpPr>
        <p:spPr>
          <a:xfrm>
            <a:off x="4524375" y="1666875"/>
            <a:ext cx="3143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1,711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9BEF9B96-B633-4134-B7F7-6364592FBA90}"/>
              </a:ext>
            </a:extLst>
          </p:cNvPr>
          <p:cNvSpPr>
            <a:spLocks noGrp="1"/>
          </p:cNvSpPr>
          <p:nvPr/>
        </p:nvSpPr>
        <p:spPr>
          <a:xfrm>
            <a:off x="4524375" y="2771775"/>
            <a:ext cx="31432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Generic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8212C212-3ED9-44E9-91D3-B2E0908AC067}"/>
              </a:ext>
            </a:extLst>
          </p:cNvPr>
          <p:cNvSpPr>
            <a:spLocks noGrp="1"/>
          </p:cNvSpPr>
          <p:nvPr/>
        </p:nvSpPr>
        <p:spPr>
          <a:xfrm>
            <a:off x="1143000" y="1666875"/>
            <a:ext cx="3143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8FEA38D8-204E-4747-A6B5-DBA44F416288}"/>
              </a:ext>
            </a:extLst>
          </p:cNvPr>
          <p:cNvSpPr>
            <a:spLocks noGrp="1"/>
          </p:cNvSpPr>
          <p:nvPr/>
        </p:nvSpPr>
        <p:spPr>
          <a:xfrm>
            <a:off x="2824401" y="2906078"/>
            <a:ext cx="526637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شركة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AE2F3D7A-7957-4325-82EE-D954F2B8283C}"/>
              </a:ext>
            </a:extLst>
          </p:cNvPr>
          <p:cNvSpPr>
            <a:spLocks noGrp="1"/>
          </p:cNvSpPr>
          <p:nvPr/>
        </p:nvSpPr>
        <p:spPr>
          <a:xfrm>
            <a:off x="2106787" y="2906078"/>
            <a:ext cx="646176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مصنّعة</a:t>
            </a:r>
          </a:p>
        </p:txBody>
      </p:sp>
      <p:graphicFrame>
        <p:nvGraphicFramePr>
          <p:cNvPr id="13" name="جدول 12">
            <a:extLst>
              <a:ext uri="{FF2B5EF4-FFF2-40B4-BE49-F238E27FC236}">
                <a16:creationId xmlns:a16="http://schemas.microsoft.com/office/drawing/2014/main" id="{49619473-EFBA-4ED7-9FD8-16C131FA42D3}"/>
              </a:ext>
            </a:extLst>
          </p:cNvPr>
          <p:cNvGraphicFramePr/>
          <p:nvPr/>
        </p:nvGraphicFramePr>
        <p:xfrm>
          <a:off x="762000" y="4000500"/>
          <a:ext cx="10668000" cy="19050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522D6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522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113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421</a:t>
                      </a:r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2,043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مستطيل 13">
            <a:extLst>
              <a:ext uri="{FF2B5EF4-FFF2-40B4-BE49-F238E27FC236}">
                <a16:creationId xmlns:a16="http://schemas.microsoft.com/office/drawing/2014/main" id="{AC069A9F-2B5B-40D1-BDEB-40792B5E9B69}"/>
              </a:ext>
            </a:extLst>
          </p:cNvPr>
          <p:cNvSpPr>
            <a:spLocks noGrp="1"/>
          </p:cNvSpPr>
          <p:nvPr/>
        </p:nvSpPr>
        <p:spPr>
          <a:xfrm>
            <a:off x="2934367" y="4078605"/>
            <a:ext cx="408908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العدد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59E84D58-8834-4903-BFB9-F84A05F97A88}"/>
              </a:ext>
            </a:extLst>
          </p:cNvPr>
          <p:cNvSpPr>
            <a:spLocks noGrp="1"/>
          </p:cNvSpPr>
          <p:nvPr/>
        </p:nvSpPr>
        <p:spPr>
          <a:xfrm>
            <a:off x="10988707" y="4078605"/>
            <a:ext cx="355568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نوع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2079E6BC-8993-4966-8503-04DAAE6D809E}"/>
              </a:ext>
            </a:extLst>
          </p:cNvPr>
          <p:cNvSpPr>
            <a:spLocks noGrp="1"/>
          </p:cNvSpPr>
          <p:nvPr/>
        </p:nvSpPr>
        <p:spPr>
          <a:xfrm>
            <a:off x="10313575" y="4078605"/>
            <a:ext cx="611600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384165F2-FC07-49C0-AA84-ED1826F9F7E3}"/>
              </a:ext>
            </a:extLst>
          </p:cNvPr>
          <p:cNvSpPr>
            <a:spLocks noGrp="1"/>
          </p:cNvSpPr>
          <p:nvPr/>
        </p:nvSpPr>
        <p:spPr>
          <a:xfrm>
            <a:off x="10977658" y="4568190"/>
            <a:ext cx="366617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شكل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5408E6CC-5220-43C2-B02E-B140712E077B}"/>
              </a:ext>
            </a:extLst>
          </p:cNvPr>
          <p:cNvSpPr>
            <a:spLocks noGrp="1"/>
          </p:cNvSpPr>
          <p:nvPr/>
        </p:nvSpPr>
        <p:spPr>
          <a:xfrm>
            <a:off x="10473690" y="4568190"/>
            <a:ext cx="44577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دوائي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AAA7AAD9-23AB-446A-A520-7D2F2A4ACD03}"/>
              </a:ext>
            </a:extLst>
          </p:cNvPr>
          <p:cNvSpPr>
            <a:spLocks noGrp="1"/>
          </p:cNvSpPr>
          <p:nvPr/>
        </p:nvSpPr>
        <p:spPr>
          <a:xfrm>
            <a:off x="10781538" y="5044440"/>
            <a:ext cx="562737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تصنيف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AE0841F2-B3A0-4665-8E4F-31D449B284B6}"/>
              </a:ext>
            </a:extLst>
          </p:cNvPr>
          <p:cNvSpPr>
            <a:spLocks noGrp="1"/>
          </p:cNvSpPr>
          <p:nvPr/>
        </p:nvSpPr>
        <p:spPr>
          <a:xfrm>
            <a:off x="10186321" y="5044440"/>
            <a:ext cx="53702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علاجي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101B65C7-C737-4206-9DEB-ED5FF1D4CB04}"/>
              </a:ext>
            </a:extLst>
          </p:cNvPr>
          <p:cNvSpPr>
            <a:spLocks noGrp="1"/>
          </p:cNvSpPr>
          <p:nvPr/>
        </p:nvSpPr>
        <p:spPr>
          <a:xfrm>
            <a:off x="9706642" y="5044440"/>
            <a:ext cx="421481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موحّد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95A6B770-D3E4-4BDF-9C9A-DB47D2E4F9E7}"/>
              </a:ext>
            </a:extLst>
          </p:cNvPr>
          <p:cNvSpPr>
            <a:spLocks noGrp="1"/>
          </p:cNvSpPr>
          <p:nvPr/>
        </p:nvSpPr>
        <p:spPr>
          <a:xfrm>
            <a:off x="10930033" y="5520690"/>
            <a:ext cx="414242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داعي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0DEE7D80-7FD5-4D91-A046-90E52FE2B0FA}"/>
              </a:ext>
            </a:extLst>
          </p:cNvPr>
          <p:cNvSpPr>
            <a:spLocks noGrp="1"/>
          </p:cNvSpPr>
          <p:nvPr/>
        </p:nvSpPr>
        <p:spPr>
          <a:xfrm>
            <a:off x="10280047" y="5520690"/>
            <a:ext cx="59178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استعمال</a:t>
            </a:r>
          </a:p>
        </p:txBody>
      </p:sp>
    </p:spTree>
    <p:extLst>
      <p:ext uri="{BB962C8B-B14F-4D97-AF65-F5344CB8AC3E}">
        <p14:creationId xmlns:p14="http://schemas.microsoft.com/office/powerpoint/2010/main" val="1478409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مستطيل 41">
            <a:extLst>
              <a:ext uri="{FF2B5EF4-FFF2-40B4-BE49-F238E27FC236}">
                <a16:creationId xmlns:a16="http://schemas.microsoft.com/office/drawing/2014/main" id="{FBB9D437-4CFB-4000-9971-88B2D56BA05A}"/>
              </a:ext>
            </a:extLst>
          </p:cNvPr>
          <p:cNvSpPr>
            <a:spLocks noGrp="1"/>
          </p:cNvSpPr>
          <p:nvPr/>
        </p:nvSpPr>
        <p:spPr>
          <a:xfrm>
            <a:off x="10589800" y="535305"/>
            <a:ext cx="944975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تنظيف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C4958B1B-30B5-46AB-8FE4-33C09F23207A}"/>
              </a:ext>
            </a:extLst>
          </p:cNvPr>
          <p:cNvSpPr>
            <a:spLocks noGrp="1"/>
          </p:cNvSpPr>
          <p:nvPr/>
        </p:nvSpPr>
        <p:spPr>
          <a:xfrm>
            <a:off x="9407652" y="535305"/>
            <a:ext cx="1065752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9FE2431D-7D7B-4370-B8C3-DBF5E7804747}"/>
              </a:ext>
            </a:extLst>
          </p:cNvPr>
          <p:cNvSpPr>
            <a:spLocks noGrp="1"/>
          </p:cNvSpPr>
          <p:nvPr/>
        </p:nvSpPr>
        <p:spPr>
          <a:xfrm>
            <a:off x="7842409" y="535305"/>
            <a:ext cx="1448848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واستخراج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8841F50D-BE2A-4C4C-8740-BC0FFEBB4ED6}"/>
              </a:ext>
            </a:extLst>
          </p:cNvPr>
          <p:cNvSpPr>
            <a:spLocks noGrp="1"/>
          </p:cNvSpPr>
          <p:nvPr/>
        </p:nvSpPr>
        <p:spPr>
          <a:xfrm>
            <a:off x="6679120" y="535305"/>
            <a:ext cx="1046893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الأسعار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D3E63D12-DAB1-4D29-9DB1-B74EE3B9D44A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FC2F4802-3AF7-432E-9483-D62288491538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428625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76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76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76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76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76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76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76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76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76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76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6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93.75%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73B24A0F-BDFF-4F5F-9C61-C100FCE411A5}"/>
              </a:ext>
            </a:extLst>
          </p:cNvPr>
          <p:cNvSpPr>
            <a:spLocks noGrp="1"/>
          </p:cNvSpPr>
          <p:nvPr/>
        </p:nvSpPr>
        <p:spPr>
          <a:xfrm>
            <a:off x="3509867" y="3100388"/>
            <a:ext cx="592931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تغطية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864A3E24-A30F-471D-96D1-7E9AAB1A609C}"/>
              </a:ext>
            </a:extLst>
          </p:cNvPr>
          <p:cNvSpPr>
            <a:spLocks noGrp="1"/>
          </p:cNvSpPr>
          <p:nvPr/>
        </p:nvSpPr>
        <p:spPr>
          <a:xfrm>
            <a:off x="2550414" y="3100388"/>
            <a:ext cx="88011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استخراج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BC9671CE-3F4C-4C2B-8714-434FC760A1D6}"/>
              </a:ext>
            </a:extLst>
          </p:cNvPr>
          <p:cNvSpPr>
            <a:spLocks noGrp="1"/>
          </p:cNvSpPr>
          <p:nvPr/>
        </p:nvSpPr>
        <p:spPr>
          <a:xfrm>
            <a:off x="1736027" y="3100388"/>
            <a:ext cx="735044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25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الأسعار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03A6408F-8A00-4EC2-B3D6-86500F7A3669}"/>
              </a:ext>
            </a:extLst>
          </p:cNvPr>
          <p:cNvSpPr>
            <a:spLocks noGrp="1"/>
          </p:cNvSpPr>
          <p:nvPr/>
        </p:nvSpPr>
        <p:spPr>
          <a:xfrm>
            <a:off x="10715911" y="2265045"/>
            <a:ext cx="647414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تنظيف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B5834E55-BC5C-4977-9014-63EADC218276}"/>
              </a:ext>
            </a:extLst>
          </p:cNvPr>
          <p:cNvSpPr>
            <a:spLocks noGrp="1"/>
          </p:cNvSpPr>
          <p:nvPr/>
        </p:nvSpPr>
        <p:spPr>
          <a:xfrm>
            <a:off x="9804845" y="2265045"/>
            <a:ext cx="834295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المسافات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3876353E-0EF9-41A5-9354-880E9146210E}"/>
              </a:ext>
            </a:extLst>
          </p:cNvPr>
          <p:cNvSpPr>
            <a:spLocks noGrp="1"/>
          </p:cNvSpPr>
          <p:nvPr/>
        </p:nvSpPr>
        <p:spPr>
          <a:xfrm>
            <a:off x="9194292" y="2265045"/>
            <a:ext cx="533781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والقيم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117FEC72-4771-4108-83DD-C9B0E74298EF}"/>
              </a:ext>
            </a:extLst>
          </p:cNvPr>
          <p:cNvSpPr>
            <a:spLocks noGrp="1"/>
          </p:cNvSpPr>
          <p:nvPr/>
        </p:nvSpPr>
        <p:spPr>
          <a:xfrm>
            <a:off x="8547640" y="2265045"/>
            <a:ext cx="569881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البديلة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288F546B-EF7F-4010-94D8-420E65C468B0}"/>
              </a:ext>
            </a:extLst>
          </p:cNvPr>
          <p:cNvSpPr>
            <a:spLocks noGrp="1"/>
          </p:cNvSpPr>
          <p:nvPr/>
        </p:nvSpPr>
        <p:spPr>
          <a:xfrm>
            <a:off x="7747730" y="2265045"/>
            <a:ext cx="723138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الناقصة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D756C199-E73C-41BD-AEA3-A457383D09FC}"/>
              </a:ext>
            </a:extLst>
          </p:cNvPr>
          <p:cNvSpPr>
            <a:spLocks noGrp="1"/>
          </p:cNvSpPr>
          <p:nvPr/>
        </p:nvSpPr>
        <p:spPr>
          <a:xfrm>
            <a:off x="10886503" y="2651760"/>
            <a:ext cx="476822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إزالة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3ABB04F1-A27F-480C-9246-9FEFB40CF803}"/>
              </a:ext>
            </a:extLst>
          </p:cNvPr>
          <p:cNvSpPr>
            <a:spLocks noGrp="1"/>
          </p:cNvSpPr>
          <p:nvPr/>
        </p:nvSpPr>
        <p:spPr>
          <a:xfrm>
            <a:off x="9991153" y="2651760"/>
            <a:ext cx="818579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AD412B0F-0731-4966-A3D5-CBD8684465AD}"/>
              </a:ext>
            </a:extLst>
          </p:cNvPr>
          <p:cNvSpPr>
            <a:spLocks noGrp="1"/>
          </p:cNvSpPr>
          <p:nvPr/>
        </p:nvSpPr>
        <p:spPr>
          <a:xfrm>
            <a:off x="9593580" y="2651760"/>
            <a:ext cx="320802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من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D568538B-B061-4387-8A2D-EA050E8BE73D}"/>
              </a:ext>
            </a:extLst>
          </p:cNvPr>
          <p:cNvSpPr>
            <a:spLocks noGrp="1"/>
          </p:cNvSpPr>
          <p:nvPr/>
        </p:nvSpPr>
        <p:spPr>
          <a:xfrm>
            <a:off x="8608409" y="2651760"/>
            <a:ext cx="908399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الأوصاف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B5098BC4-0004-4CE1-AC57-FBB424D45E3B}"/>
              </a:ext>
            </a:extLst>
          </p:cNvPr>
          <p:cNvSpPr>
            <a:spLocks noGrp="1"/>
          </p:cNvSpPr>
          <p:nvPr/>
        </p:nvSpPr>
        <p:spPr>
          <a:xfrm>
            <a:off x="7951470" y="2651760"/>
            <a:ext cx="580168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الطبية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666857DB-C694-4C3E-B692-D7ACB5652092}"/>
              </a:ext>
            </a:extLst>
          </p:cNvPr>
          <p:cNvSpPr>
            <a:spLocks noGrp="1"/>
          </p:cNvSpPr>
          <p:nvPr/>
        </p:nvSpPr>
        <p:spPr>
          <a:xfrm>
            <a:off x="10802874" y="3038475"/>
            <a:ext cx="560451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توحيد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3C024A91-894F-4BA4-B5ED-6AE972A61219}"/>
              </a:ext>
            </a:extLst>
          </p:cNvPr>
          <p:cNvSpPr>
            <a:spLocks noGrp="1"/>
          </p:cNvSpPr>
          <p:nvPr/>
        </p:nvSpPr>
        <p:spPr>
          <a:xfrm>
            <a:off x="10031349" y="3038475"/>
            <a:ext cx="694754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التركيز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701EFE12-B79A-4FBD-85D9-985036C95205}"/>
              </a:ext>
            </a:extLst>
          </p:cNvPr>
          <p:cNvSpPr>
            <a:spLocks noGrp="1"/>
          </p:cNvSpPr>
          <p:nvPr/>
        </p:nvSpPr>
        <p:spPr>
          <a:xfrm>
            <a:off x="9651492" y="3038475"/>
            <a:ext cx="303085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في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09F389F1-3976-4605-8232-A0E7AA634360}"/>
              </a:ext>
            </a:extLst>
          </p:cNvPr>
          <p:cNvSpPr>
            <a:spLocks noGrp="1"/>
          </p:cNvSpPr>
          <p:nvPr/>
        </p:nvSpPr>
        <p:spPr>
          <a:xfrm>
            <a:off x="7005256" y="3038475"/>
            <a:ext cx="2569464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strength_normalized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97EE35CD-2830-40FB-9B6B-C5070E683D21}"/>
              </a:ext>
            </a:extLst>
          </p:cNvPr>
          <p:cNvSpPr>
            <a:spLocks noGrp="1"/>
          </p:cNvSpPr>
          <p:nvPr/>
        </p:nvSpPr>
        <p:spPr>
          <a:xfrm>
            <a:off x="10928128" y="3425190"/>
            <a:ext cx="435197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ترك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55D28DA2-725F-413A-8765-19201B99DE03}"/>
              </a:ext>
            </a:extLst>
          </p:cNvPr>
          <p:cNvSpPr>
            <a:spLocks noGrp="1"/>
          </p:cNvSpPr>
          <p:nvPr/>
        </p:nvSpPr>
        <p:spPr>
          <a:xfrm>
            <a:off x="10123361" y="3425190"/>
            <a:ext cx="727996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الأسعار</a:t>
            </a:r>
          </a:p>
        </p:txBody>
      </p:sp>
      <p:sp>
        <p:nvSpPr>
          <p:cNvPr id="26" name="مستطيل 25">
            <a:extLst>
              <a:ext uri="{FF2B5EF4-FFF2-40B4-BE49-F238E27FC236}">
                <a16:creationId xmlns:a16="http://schemas.microsoft.com/office/drawing/2014/main" id="{C9CAE2AE-6852-4187-9C10-AEEB9C112F21}"/>
              </a:ext>
            </a:extLst>
          </p:cNvPr>
          <p:cNvSpPr>
            <a:spLocks noGrp="1"/>
          </p:cNvSpPr>
          <p:nvPr/>
        </p:nvSpPr>
        <p:spPr>
          <a:xfrm>
            <a:off x="9314402" y="3425190"/>
            <a:ext cx="732187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الملتبسة</a:t>
            </a:r>
          </a:p>
        </p:txBody>
      </p:sp>
      <p:sp>
        <p:nvSpPr>
          <p:cNvPr id="27" name="مستطيل 26">
            <a:extLst>
              <a:ext uri="{FF2B5EF4-FFF2-40B4-BE49-F238E27FC236}">
                <a16:creationId xmlns:a16="http://schemas.microsoft.com/office/drawing/2014/main" id="{47046EA6-0843-489D-81DB-52B930157030}"/>
              </a:ext>
            </a:extLst>
          </p:cNvPr>
          <p:cNvSpPr>
            <a:spLocks noGrp="1"/>
          </p:cNvSpPr>
          <p:nvPr/>
        </p:nvSpPr>
        <p:spPr>
          <a:xfrm>
            <a:off x="8813101" y="3425190"/>
            <a:ext cx="424529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دون</a:t>
            </a:r>
          </a:p>
        </p:txBody>
      </p:sp>
      <p:sp>
        <p:nvSpPr>
          <p:cNvPr id="28" name="مستطيل 27">
            <a:extLst>
              <a:ext uri="{FF2B5EF4-FFF2-40B4-BE49-F238E27FC236}">
                <a16:creationId xmlns:a16="http://schemas.microsoft.com/office/drawing/2014/main" id="{5BE59E7F-3F37-478D-880F-964FD88E5E06}"/>
              </a:ext>
            </a:extLst>
          </p:cNvPr>
          <p:cNvSpPr>
            <a:spLocks noGrp="1"/>
          </p:cNvSpPr>
          <p:nvPr/>
        </p:nvSpPr>
        <p:spPr>
          <a:xfrm>
            <a:off x="8134350" y="3425190"/>
            <a:ext cx="601980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تخمين</a:t>
            </a:r>
          </a:p>
        </p:txBody>
      </p:sp>
      <p:sp>
        <p:nvSpPr>
          <p:cNvPr id="29" name="مستطيل 28">
            <a:extLst>
              <a:ext uri="{FF2B5EF4-FFF2-40B4-BE49-F238E27FC236}">
                <a16:creationId xmlns:a16="http://schemas.microsoft.com/office/drawing/2014/main" id="{30F71B74-1D3B-44DC-820A-91918D658FBA}"/>
              </a:ext>
            </a:extLst>
          </p:cNvPr>
          <p:cNvSpPr>
            <a:spLocks noGrp="1"/>
          </p:cNvSpPr>
          <p:nvPr/>
        </p:nvSpPr>
        <p:spPr>
          <a:xfrm>
            <a:off x="10306145" y="4792980"/>
            <a:ext cx="1057180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20,357</a:t>
            </a:r>
          </a:p>
        </p:txBody>
      </p:sp>
      <p:sp>
        <p:nvSpPr>
          <p:cNvPr id="30" name="مستطيل 29">
            <a:extLst>
              <a:ext uri="{FF2B5EF4-FFF2-40B4-BE49-F238E27FC236}">
                <a16:creationId xmlns:a16="http://schemas.microsoft.com/office/drawing/2014/main" id="{41D0435F-7064-456C-B5E7-9BC451465B48}"/>
              </a:ext>
            </a:extLst>
          </p:cNvPr>
          <p:cNvSpPr>
            <a:spLocks noGrp="1"/>
          </p:cNvSpPr>
          <p:nvPr/>
        </p:nvSpPr>
        <p:spPr>
          <a:xfrm>
            <a:off x="9625394" y="4792980"/>
            <a:ext cx="590741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سعرًا</a:t>
            </a:r>
          </a:p>
        </p:txBody>
      </p: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A0D8076D-59D1-4AA3-B656-3248FEFDA88A}"/>
              </a:ext>
            </a:extLst>
          </p:cNvPr>
          <p:cNvSpPr>
            <a:spLocks noGrp="1"/>
          </p:cNvSpPr>
          <p:nvPr/>
        </p:nvSpPr>
        <p:spPr>
          <a:xfrm>
            <a:off x="8925020" y="4792980"/>
            <a:ext cx="610362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متاحًا</a:t>
            </a:r>
          </a:p>
        </p:txBody>
      </p:sp>
      <p:sp>
        <p:nvSpPr>
          <p:cNvPr id="32" name="مستطيل 31">
            <a:extLst>
              <a:ext uri="{FF2B5EF4-FFF2-40B4-BE49-F238E27FC236}">
                <a16:creationId xmlns:a16="http://schemas.microsoft.com/office/drawing/2014/main" id="{51503F72-0B55-40DC-8A01-E325716045F1}"/>
              </a:ext>
            </a:extLst>
          </p:cNvPr>
          <p:cNvSpPr>
            <a:spLocks noGrp="1"/>
          </p:cNvSpPr>
          <p:nvPr/>
        </p:nvSpPr>
        <p:spPr>
          <a:xfrm>
            <a:off x="8458676" y="4792980"/>
            <a:ext cx="376333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من</a:t>
            </a:r>
          </a:p>
        </p:txBody>
      </p:sp>
      <p:sp>
        <p:nvSpPr>
          <p:cNvPr id="33" name="مستطيل 32">
            <a:extLst>
              <a:ext uri="{FF2B5EF4-FFF2-40B4-BE49-F238E27FC236}">
                <a16:creationId xmlns:a16="http://schemas.microsoft.com/office/drawing/2014/main" id="{9836D9A7-BE70-43DD-B0C2-8D5A7447C7EA}"/>
              </a:ext>
            </a:extLst>
          </p:cNvPr>
          <p:cNvSpPr>
            <a:spLocks noGrp="1"/>
          </p:cNvSpPr>
          <p:nvPr/>
        </p:nvSpPr>
        <p:spPr>
          <a:xfrm>
            <a:off x="7835837" y="4792980"/>
            <a:ext cx="532828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أصل</a:t>
            </a:r>
          </a:p>
        </p:txBody>
      </p:sp>
      <p:sp>
        <p:nvSpPr>
          <p:cNvPr id="34" name="مستطيل 33">
            <a:extLst>
              <a:ext uri="{FF2B5EF4-FFF2-40B4-BE49-F238E27FC236}">
                <a16:creationId xmlns:a16="http://schemas.microsoft.com/office/drawing/2014/main" id="{46E08B5D-33C7-4661-8FD6-090836E4E934}"/>
              </a:ext>
            </a:extLst>
          </p:cNvPr>
          <p:cNvSpPr>
            <a:spLocks noGrp="1"/>
          </p:cNvSpPr>
          <p:nvPr/>
        </p:nvSpPr>
        <p:spPr>
          <a:xfrm>
            <a:off x="6688646" y="4792980"/>
            <a:ext cx="1057180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21,714</a:t>
            </a:r>
          </a:p>
        </p:txBody>
      </p:sp>
      <p:sp>
        <p:nvSpPr>
          <p:cNvPr id="35" name="مستطيل 34">
            <a:extLst>
              <a:ext uri="{FF2B5EF4-FFF2-40B4-BE49-F238E27FC236}">
                <a16:creationId xmlns:a16="http://schemas.microsoft.com/office/drawing/2014/main" id="{AFB24996-07E3-4976-924A-BA82EA1D17E7}"/>
              </a:ext>
            </a:extLst>
          </p:cNvPr>
          <p:cNvSpPr>
            <a:spLocks noGrp="1"/>
          </p:cNvSpPr>
          <p:nvPr/>
        </p:nvSpPr>
        <p:spPr>
          <a:xfrm>
            <a:off x="5990177" y="4792980"/>
            <a:ext cx="608457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سجلًا</a:t>
            </a:r>
          </a:p>
        </p:txBody>
      </p:sp>
      <p:sp>
        <p:nvSpPr>
          <p:cNvPr id="36" name="مستطيل 35">
            <a:extLst>
              <a:ext uri="{FF2B5EF4-FFF2-40B4-BE49-F238E27FC236}">
                <a16:creationId xmlns:a16="http://schemas.microsoft.com/office/drawing/2014/main" id="{958D81F2-217C-44D9-A67F-D510B11EEF8D}"/>
              </a:ext>
            </a:extLst>
          </p:cNvPr>
          <p:cNvSpPr>
            <a:spLocks noGrp="1"/>
          </p:cNvSpPr>
          <p:nvPr/>
        </p:nvSpPr>
        <p:spPr>
          <a:xfrm>
            <a:off x="10653046" y="5463540"/>
            <a:ext cx="710279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1,357</a:t>
            </a:r>
          </a:p>
        </p:txBody>
      </p:sp>
      <p:sp>
        <p:nvSpPr>
          <p:cNvPr id="37" name="مستطيل 36">
            <a:extLst>
              <a:ext uri="{FF2B5EF4-FFF2-40B4-BE49-F238E27FC236}">
                <a16:creationId xmlns:a16="http://schemas.microsoft.com/office/drawing/2014/main" id="{0447B2AE-D7B1-4A46-9124-8F7F46C695A1}"/>
              </a:ext>
            </a:extLst>
          </p:cNvPr>
          <p:cNvSpPr>
            <a:spLocks noGrp="1"/>
          </p:cNvSpPr>
          <p:nvPr/>
        </p:nvSpPr>
        <p:spPr>
          <a:xfrm>
            <a:off x="10087737" y="5463540"/>
            <a:ext cx="493871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سجلًا</a:t>
            </a:r>
          </a:p>
        </p:txBody>
      </p:sp>
      <p:sp>
        <p:nvSpPr>
          <p:cNvPr id="38" name="مستطيل 37">
            <a:extLst>
              <a:ext uri="{FF2B5EF4-FFF2-40B4-BE49-F238E27FC236}">
                <a16:creationId xmlns:a16="http://schemas.microsoft.com/office/drawing/2014/main" id="{EEEF6F7D-C195-4476-BEB4-CA889CAAE7FC}"/>
              </a:ext>
            </a:extLst>
          </p:cNvPr>
          <p:cNvSpPr>
            <a:spLocks noGrp="1"/>
          </p:cNvSpPr>
          <p:nvPr/>
        </p:nvSpPr>
        <p:spPr>
          <a:xfrm>
            <a:off x="9616440" y="5463540"/>
            <a:ext cx="399859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دون</a:t>
            </a:r>
          </a:p>
        </p:txBody>
      </p:sp>
      <p:sp>
        <p:nvSpPr>
          <p:cNvPr id="39" name="مستطيل 38">
            <a:extLst>
              <a:ext uri="{FF2B5EF4-FFF2-40B4-BE49-F238E27FC236}">
                <a16:creationId xmlns:a16="http://schemas.microsoft.com/office/drawing/2014/main" id="{08403790-35C3-46BF-B895-6527EC0D31A4}"/>
              </a:ext>
            </a:extLst>
          </p:cNvPr>
          <p:cNvSpPr>
            <a:spLocks noGrp="1"/>
          </p:cNvSpPr>
          <p:nvPr/>
        </p:nvSpPr>
        <p:spPr>
          <a:xfrm>
            <a:off x="9114758" y="5463540"/>
            <a:ext cx="430244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سعر</a:t>
            </a:r>
          </a:p>
        </p:txBody>
      </p:sp>
      <p:sp>
        <p:nvSpPr>
          <p:cNvPr id="40" name="مستطيل 39">
            <a:extLst>
              <a:ext uri="{FF2B5EF4-FFF2-40B4-BE49-F238E27FC236}">
                <a16:creationId xmlns:a16="http://schemas.microsoft.com/office/drawing/2014/main" id="{443688CB-ACEF-4F38-B36B-D1C36EAFD47C}"/>
              </a:ext>
            </a:extLst>
          </p:cNvPr>
          <p:cNvSpPr>
            <a:spLocks noGrp="1"/>
          </p:cNvSpPr>
          <p:nvPr/>
        </p:nvSpPr>
        <p:spPr>
          <a:xfrm>
            <a:off x="8529447" y="5463540"/>
            <a:ext cx="513874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رقمي</a:t>
            </a:r>
          </a:p>
        </p:txBody>
      </p:sp>
      <p:sp>
        <p:nvSpPr>
          <p:cNvPr id="41" name="مستطيل 40">
            <a:extLst>
              <a:ext uri="{FF2B5EF4-FFF2-40B4-BE49-F238E27FC236}">
                <a16:creationId xmlns:a16="http://schemas.microsoft.com/office/drawing/2014/main" id="{FFE6DC3C-79D0-43FE-874D-F5DB87796636}"/>
              </a:ext>
            </a:extLst>
          </p:cNvPr>
          <p:cNvSpPr>
            <a:spLocks noGrp="1"/>
          </p:cNvSpPr>
          <p:nvPr/>
        </p:nvSpPr>
        <p:spPr>
          <a:xfrm>
            <a:off x="7874127" y="5463540"/>
            <a:ext cx="583882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واضح</a:t>
            </a:r>
          </a:p>
        </p:txBody>
      </p:sp>
    </p:spTree>
    <p:extLst>
      <p:ext uri="{BB962C8B-B14F-4D97-AF65-F5344CB8AC3E}">
        <p14:creationId xmlns:p14="http://schemas.microsoft.com/office/powerpoint/2010/main" val="155612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مستطيل 19">
            <a:extLst>
              <a:ext uri="{FF2B5EF4-FFF2-40B4-BE49-F238E27FC236}">
                <a16:creationId xmlns:a16="http://schemas.microsoft.com/office/drawing/2014/main" id="{D126DC8E-41D7-4D74-A285-E1B2666C305D}"/>
              </a:ext>
            </a:extLst>
          </p:cNvPr>
          <p:cNvSpPr>
            <a:spLocks noGrp="1"/>
          </p:cNvSpPr>
          <p:nvPr/>
        </p:nvSpPr>
        <p:spPr>
          <a:xfrm>
            <a:off x="10893076" y="535305"/>
            <a:ext cx="641699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مثال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9E422AA4-D833-4E5A-898C-6691D7DDA84A}"/>
              </a:ext>
            </a:extLst>
          </p:cNvPr>
          <p:cNvSpPr>
            <a:spLocks noGrp="1"/>
          </p:cNvSpPr>
          <p:nvPr/>
        </p:nvSpPr>
        <p:spPr>
          <a:xfrm>
            <a:off x="9884855" y="535305"/>
            <a:ext cx="891826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تحويل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ADFDB781-59D8-4ADF-9463-65511B1934CD}"/>
              </a:ext>
            </a:extLst>
          </p:cNvPr>
          <p:cNvSpPr>
            <a:spLocks noGrp="1"/>
          </p:cNvSpPr>
          <p:nvPr/>
        </p:nvSpPr>
        <p:spPr>
          <a:xfrm>
            <a:off x="8871776" y="535305"/>
            <a:ext cx="896683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وصف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964BFA74-3BB7-4937-AA34-E0C20E81E2A8}"/>
              </a:ext>
            </a:extLst>
          </p:cNvPr>
          <p:cNvSpPr>
            <a:spLocks noGrp="1"/>
          </p:cNvSpPr>
          <p:nvPr/>
        </p:nvSpPr>
        <p:spPr>
          <a:xfrm>
            <a:off x="7902035" y="535305"/>
            <a:ext cx="853345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العبوة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6FB41018-6593-4821-B1BD-A694DE2E947F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8AEE8FC1-A39B-497D-9084-2BB255E33968}"/>
              </a:ext>
            </a:extLst>
          </p:cNvPr>
          <p:cNvSpPr>
            <a:spLocks noGrp="1"/>
          </p:cNvSpPr>
          <p:nvPr/>
        </p:nvSpPr>
        <p:spPr>
          <a:xfrm>
            <a:off x="857250" y="1685925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Unit Price: BDT 6.00, (50’s pack: BDT 300.00)</a:t>
            </a:r>
          </a:p>
        </p:txBody>
      </p:sp>
      <p:graphicFrame>
        <p:nvGraphicFramePr>
          <p:cNvPr id="7" name="جدول 6">
            <a:extLst>
              <a:ext uri="{FF2B5EF4-FFF2-40B4-BE49-F238E27FC236}">
                <a16:creationId xmlns:a16="http://schemas.microsoft.com/office/drawing/2014/main" id="{F3DFA69F-2BC1-4A74-8D11-B04BAE61DF28}"/>
              </a:ext>
            </a:extLst>
          </p:cNvPr>
          <p:cNvGraphicFramePr/>
          <p:nvPr/>
        </p:nvGraphicFramePr>
        <p:xfrm>
          <a:off x="762000" y="2952750"/>
          <a:ext cx="10668000" cy="24003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522D6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522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6.00 BDT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price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300.00 BDT</a:t>
                      </a:r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pack_price</a:t>
                      </a:r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pack_size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مستطيل 7">
            <a:extLst>
              <a:ext uri="{FF2B5EF4-FFF2-40B4-BE49-F238E27FC236}">
                <a16:creationId xmlns:a16="http://schemas.microsoft.com/office/drawing/2014/main" id="{EB0A212A-4BA4-4E5C-9D1F-5BF7067F15FD}"/>
              </a:ext>
            </a:extLst>
          </p:cNvPr>
          <p:cNvSpPr>
            <a:spLocks noGrp="1"/>
          </p:cNvSpPr>
          <p:nvPr/>
        </p:nvSpPr>
        <p:spPr>
          <a:xfrm>
            <a:off x="4180999" y="3092768"/>
            <a:ext cx="495776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القيمة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9D652F93-4722-40D1-970F-09A6AEB3EA1D}"/>
              </a:ext>
            </a:extLst>
          </p:cNvPr>
          <p:cNvSpPr>
            <a:spLocks noGrp="1"/>
          </p:cNvSpPr>
          <p:nvPr/>
        </p:nvSpPr>
        <p:spPr>
          <a:xfrm>
            <a:off x="10877550" y="3092768"/>
            <a:ext cx="466725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الحقل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5CCFAA27-69C7-4A0D-A428-65614AF25133}"/>
              </a:ext>
            </a:extLst>
          </p:cNvPr>
          <p:cNvSpPr>
            <a:spLocks noGrp="1"/>
          </p:cNvSpPr>
          <p:nvPr/>
        </p:nvSpPr>
        <p:spPr>
          <a:xfrm>
            <a:off x="10804493" y="5710238"/>
            <a:ext cx="55883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وصف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F55CC830-3E52-4FF9-A172-DC33402EB70D}"/>
              </a:ext>
            </a:extLst>
          </p:cNvPr>
          <p:cNvSpPr>
            <a:spLocks noGrp="1"/>
          </p:cNvSpPr>
          <p:nvPr/>
        </p:nvSpPr>
        <p:spPr>
          <a:xfrm>
            <a:off x="10174319" y="5710238"/>
            <a:ext cx="5639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يحتوي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B44C2CE3-68BD-4791-8867-8CE0C92C167E}"/>
              </a:ext>
            </a:extLst>
          </p:cNvPr>
          <p:cNvSpPr>
            <a:spLocks noGrp="1"/>
          </p:cNvSpPr>
          <p:nvPr/>
        </p:nvSpPr>
        <p:spPr>
          <a:xfrm>
            <a:off x="9536716" y="5710238"/>
            <a:ext cx="57140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أحجامًا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22677102-6138-4DFA-840B-6E87B4B9B53E}"/>
              </a:ext>
            </a:extLst>
          </p:cNvPr>
          <p:cNvSpPr>
            <a:spLocks noGrp="1"/>
          </p:cNvSpPr>
          <p:nvPr/>
        </p:nvSpPr>
        <p:spPr>
          <a:xfrm>
            <a:off x="8930164" y="5710238"/>
            <a:ext cx="54035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متعددة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3FF8400A-90FF-49E0-9116-96AE7F0FC7CC}"/>
              </a:ext>
            </a:extLst>
          </p:cNvPr>
          <p:cNvSpPr>
            <a:spLocks noGrp="1"/>
          </p:cNvSpPr>
          <p:nvPr/>
        </p:nvSpPr>
        <p:spPr>
          <a:xfrm>
            <a:off x="8293227" y="5710238"/>
            <a:ext cx="57073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بأسعار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A4D8522B-5770-42D8-9B96-2A04392203B7}"/>
              </a:ext>
            </a:extLst>
          </p:cNvPr>
          <p:cNvSpPr>
            <a:spLocks noGrp="1"/>
          </p:cNvSpPr>
          <p:nvPr/>
        </p:nvSpPr>
        <p:spPr>
          <a:xfrm>
            <a:off x="7681055" y="5710238"/>
            <a:ext cx="54597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مختلفة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350F26B8-7212-465E-BEE6-5C1237880349}"/>
              </a:ext>
            </a:extLst>
          </p:cNvPr>
          <p:cNvSpPr>
            <a:spLocks noGrp="1"/>
          </p:cNvSpPr>
          <p:nvPr/>
        </p:nvSpPr>
        <p:spPr>
          <a:xfrm>
            <a:off x="7229285" y="5710238"/>
            <a:ext cx="38557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يبقى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84CEE6CB-BBBD-4842-AECF-53B28B10CA17}"/>
              </a:ext>
            </a:extLst>
          </p:cNvPr>
          <p:cNvSpPr>
            <a:spLocks noGrp="1"/>
          </p:cNvSpPr>
          <p:nvPr/>
        </p:nvSpPr>
        <p:spPr>
          <a:xfrm>
            <a:off x="6787896" y="5710238"/>
            <a:ext cx="37519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دون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A4C750DD-EF69-4CA1-9112-C53E813F49BD}"/>
              </a:ext>
            </a:extLst>
          </p:cNvPr>
          <p:cNvSpPr>
            <a:spLocks noGrp="1"/>
          </p:cNvSpPr>
          <p:nvPr/>
        </p:nvSpPr>
        <p:spPr>
          <a:xfrm>
            <a:off x="6318409" y="5710238"/>
            <a:ext cx="4032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سعر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52D596EC-03CA-4057-8FB2-2C5AB9758F5E}"/>
              </a:ext>
            </a:extLst>
          </p:cNvPr>
          <p:cNvSpPr>
            <a:spLocks noGrp="1"/>
          </p:cNvSpPr>
          <p:nvPr/>
        </p:nvSpPr>
        <p:spPr>
          <a:xfrm>
            <a:off x="5736336" y="5710238"/>
            <a:ext cx="51587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مختار</a:t>
            </a:r>
          </a:p>
        </p:txBody>
      </p:sp>
    </p:spTree>
    <p:extLst>
      <p:ext uri="{BB962C8B-B14F-4D97-AF65-F5344CB8AC3E}">
        <p14:creationId xmlns:p14="http://schemas.microsoft.com/office/powerpoint/2010/main" val="1911039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مستطيل 24">
            <a:extLst>
              <a:ext uri="{FF2B5EF4-FFF2-40B4-BE49-F238E27FC236}">
                <a16:creationId xmlns:a16="http://schemas.microsoft.com/office/drawing/2014/main" id="{B69665B5-300D-44C2-9F10-BD2AE6D7F9AA}"/>
              </a:ext>
            </a:extLst>
          </p:cNvPr>
          <p:cNvSpPr>
            <a:spLocks noGrp="1"/>
          </p:cNvSpPr>
          <p:nvPr/>
        </p:nvSpPr>
        <p:spPr>
          <a:xfrm>
            <a:off x="10605706" y="535305"/>
            <a:ext cx="929069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نموذج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8458C03A-C858-4231-A68A-CBFC84A5D8AF}"/>
              </a:ext>
            </a:extLst>
          </p:cNvPr>
          <p:cNvSpPr>
            <a:spLocks noGrp="1"/>
          </p:cNvSpPr>
          <p:nvPr/>
        </p:nvSpPr>
        <p:spPr>
          <a:xfrm>
            <a:off x="9682639" y="535305"/>
            <a:ext cx="806672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قاعدة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C6EFE817-1E7C-4628-8649-32252A54F7DA}"/>
              </a:ext>
            </a:extLst>
          </p:cNvPr>
          <p:cNvSpPr>
            <a:spLocks noGrp="1"/>
          </p:cNvSpPr>
          <p:nvPr/>
        </p:nvSpPr>
        <p:spPr>
          <a:xfrm>
            <a:off x="8500491" y="535305"/>
            <a:ext cx="1065752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FE788F6E-A4A9-4522-8F20-D0A4C954573A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5" name="جدول 4">
            <a:extLst>
              <a:ext uri="{FF2B5EF4-FFF2-40B4-BE49-F238E27FC236}">
                <a16:creationId xmlns:a16="http://schemas.microsoft.com/office/drawing/2014/main" id="{A3D3078D-3465-47C8-939D-CD3B444C6F74}"/>
              </a:ext>
            </a:extLst>
          </p:cNvPr>
          <p:cNvGraphicFramePr/>
          <p:nvPr/>
        </p:nvGraphicFramePr>
        <p:xfrm>
          <a:off x="762000" y="1619250"/>
          <a:ext cx="10668000" cy="333375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522D6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522D6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522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1 : N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manufacturers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medicines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1 : N</a:t>
                      </a:r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dosage_forms</a:t>
                      </a:r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medicines</a:t>
                      </a:r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1 : N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generics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medicines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1 : N</a:t>
                      </a:r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drug_classes</a:t>
                      </a:r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generics</a:t>
                      </a:r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1 : N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indications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generics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مستطيل 5">
            <a:extLst>
              <a:ext uri="{FF2B5EF4-FFF2-40B4-BE49-F238E27FC236}">
                <a16:creationId xmlns:a16="http://schemas.microsoft.com/office/drawing/2014/main" id="{CBC49E98-27D7-4638-8F61-56AEBF047DC7}"/>
              </a:ext>
            </a:extLst>
          </p:cNvPr>
          <p:cNvSpPr>
            <a:spLocks noGrp="1"/>
          </p:cNvSpPr>
          <p:nvPr/>
        </p:nvSpPr>
        <p:spPr>
          <a:xfrm>
            <a:off x="1850422" y="1737043"/>
            <a:ext cx="540353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العلاقة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5BDA92AC-7A72-4A87-B178-B3AAA1EACC7C}"/>
              </a:ext>
            </a:extLst>
          </p:cNvPr>
          <p:cNvSpPr>
            <a:spLocks noGrp="1"/>
          </p:cNvSpPr>
          <p:nvPr/>
        </p:nvSpPr>
        <p:spPr>
          <a:xfrm>
            <a:off x="6198203" y="1737043"/>
            <a:ext cx="574072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الجدول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8190299D-9104-402B-9756-41C0175297D8}"/>
              </a:ext>
            </a:extLst>
          </p:cNvPr>
          <p:cNvSpPr>
            <a:spLocks noGrp="1"/>
          </p:cNvSpPr>
          <p:nvPr/>
        </p:nvSpPr>
        <p:spPr>
          <a:xfrm>
            <a:off x="5437156" y="1737043"/>
            <a:ext cx="697516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المرجعي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16DBD18A-6B2A-4E29-9F78-4152A0CE85EC}"/>
              </a:ext>
            </a:extLst>
          </p:cNvPr>
          <p:cNvSpPr>
            <a:spLocks noGrp="1"/>
          </p:cNvSpPr>
          <p:nvPr/>
        </p:nvSpPr>
        <p:spPr>
          <a:xfrm>
            <a:off x="10770203" y="1737043"/>
            <a:ext cx="574072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الجدول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435B1204-CF9B-426A-A4CA-F3254D415D04}"/>
              </a:ext>
            </a:extLst>
          </p:cNvPr>
          <p:cNvSpPr>
            <a:spLocks noGrp="1"/>
          </p:cNvSpPr>
          <p:nvPr/>
        </p:nvSpPr>
        <p:spPr>
          <a:xfrm>
            <a:off x="10099262" y="1737043"/>
            <a:ext cx="607409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المرتبط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28E94E10-C6DD-4755-B38C-A1A1D8EA5833}"/>
              </a:ext>
            </a:extLst>
          </p:cNvPr>
          <p:cNvSpPr>
            <a:spLocks noGrp="1"/>
          </p:cNvSpPr>
          <p:nvPr/>
        </p:nvSpPr>
        <p:spPr>
          <a:xfrm>
            <a:off x="9530715" y="5240655"/>
            <a:ext cx="1832610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Primary Keys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68953FAC-C7B4-478D-A1C5-D9412FE73921}"/>
              </a:ext>
            </a:extLst>
          </p:cNvPr>
          <p:cNvSpPr>
            <a:spLocks noGrp="1"/>
          </p:cNvSpPr>
          <p:nvPr/>
        </p:nvSpPr>
        <p:spPr>
          <a:xfrm>
            <a:off x="8249888" y="5240655"/>
            <a:ext cx="1204055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وForeign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33CF93CF-3C85-4E95-A188-CD1CCA220919}"/>
              </a:ext>
            </a:extLst>
          </p:cNvPr>
          <p:cNvSpPr>
            <a:spLocks noGrp="1"/>
          </p:cNvSpPr>
          <p:nvPr/>
        </p:nvSpPr>
        <p:spPr>
          <a:xfrm>
            <a:off x="7446073" y="5240655"/>
            <a:ext cx="727043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Keys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374B3100-8132-4084-A1BA-D0D30B87246E}"/>
              </a:ext>
            </a:extLst>
          </p:cNvPr>
          <p:cNvSpPr>
            <a:spLocks noGrp="1"/>
          </p:cNvSpPr>
          <p:nvPr/>
        </p:nvSpPr>
        <p:spPr>
          <a:xfrm>
            <a:off x="6724269" y="5240655"/>
            <a:ext cx="645033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لحماية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3F099D33-DBA7-4AAA-AD6B-2E5E496B23ED}"/>
              </a:ext>
            </a:extLst>
          </p:cNvPr>
          <p:cNvSpPr>
            <a:spLocks noGrp="1"/>
          </p:cNvSpPr>
          <p:nvPr/>
        </p:nvSpPr>
        <p:spPr>
          <a:xfrm>
            <a:off x="6117145" y="5240655"/>
            <a:ext cx="530352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الربط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42CA09BC-5480-47CE-A473-CCE0989C65C1}"/>
              </a:ext>
            </a:extLst>
          </p:cNvPr>
          <p:cNvSpPr>
            <a:spLocks noGrp="1"/>
          </p:cNvSpPr>
          <p:nvPr/>
        </p:nvSpPr>
        <p:spPr>
          <a:xfrm>
            <a:off x="10495979" y="5764530"/>
            <a:ext cx="867346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Indexes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F3AF4BAF-A5B2-417E-8EBD-52526FB2657B}"/>
              </a:ext>
            </a:extLst>
          </p:cNvPr>
          <p:cNvSpPr>
            <a:spLocks noGrp="1"/>
          </p:cNvSpPr>
          <p:nvPr/>
        </p:nvSpPr>
        <p:spPr>
          <a:xfrm>
            <a:off x="9398127" y="5764530"/>
            <a:ext cx="1034320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للاستعلامات،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5987A7A9-C4E6-428B-B50B-3583E4636708}"/>
              </a:ext>
            </a:extLst>
          </p:cNvPr>
          <p:cNvSpPr>
            <a:spLocks noGrp="1"/>
          </p:cNvSpPr>
          <p:nvPr/>
        </p:nvSpPr>
        <p:spPr>
          <a:xfrm>
            <a:off x="8876252" y="5764530"/>
            <a:ext cx="458343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وقيود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5C55E1CB-4FAF-4C02-ACF1-A8DAD6DE73A3}"/>
              </a:ext>
            </a:extLst>
          </p:cNvPr>
          <p:cNvSpPr>
            <a:spLocks noGrp="1"/>
          </p:cNvSpPr>
          <p:nvPr/>
        </p:nvSpPr>
        <p:spPr>
          <a:xfrm>
            <a:off x="8449913" y="5764530"/>
            <a:ext cx="362807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لمنع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C97D7D0A-B1B0-4FA2-9988-3E8B4F43F2F5}"/>
              </a:ext>
            </a:extLst>
          </p:cNvPr>
          <p:cNvSpPr>
            <a:spLocks noGrp="1"/>
          </p:cNvSpPr>
          <p:nvPr/>
        </p:nvSpPr>
        <p:spPr>
          <a:xfrm>
            <a:off x="7772400" y="5764530"/>
            <a:ext cx="613981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الأسعار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27E290FF-0BBA-4F3B-939D-865DDED6E2A4}"/>
              </a:ext>
            </a:extLst>
          </p:cNvPr>
          <p:cNvSpPr>
            <a:spLocks noGrp="1"/>
          </p:cNvSpPr>
          <p:nvPr/>
        </p:nvSpPr>
        <p:spPr>
          <a:xfrm>
            <a:off x="7184898" y="5764530"/>
            <a:ext cx="523970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السالبة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33757CE1-3508-48F9-AA1E-288B8168F37C}"/>
              </a:ext>
            </a:extLst>
          </p:cNvPr>
          <p:cNvSpPr>
            <a:spLocks noGrp="1"/>
          </p:cNvSpPr>
          <p:nvPr/>
        </p:nvSpPr>
        <p:spPr>
          <a:xfrm>
            <a:off x="6412325" y="5764530"/>
            <a:ext cx="709041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والأحجام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94A7CE37-9631-436A-8E2F-7B4413D7CF6E}"/>
              </a:ext>
            </a:extLst>
          </p:cNvPr>
          <p:cNvSpPr>
            <a:spLocks noGrp="1"/>
          </p:cNvSpPr>
          <p:nvPr/>
        </p:nvSpPr>
        <p:spPr>
          <a:xfrm>
            <a:off x="5994368" y="5764530"/>
            <a:ext cx="354425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غير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158B1237-E3CC-4801-A1CA-70D7CD5C35E8}"/>
              </a:ext>
            </a:extLst>
          </p:cNvPr>
          <p:cNvSpPr>
            <a:spLocks noGrp="1"/>
          </p:cNvSpPr>
          <p:nvPr/>
        </p:nvSpPr>
        <p:spPr>
          <a:xfrm>
            <a:off x="5192268" y="5764530"/>
            <a:ext cx="738569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الصحيحة</a:t>
            </a:r>
          </a:p>
        </p:txBody>
      </p:sp>
    </p:spTree>
    <p:extLst>
      <p:ext uri="{BB962C8B-B14F-4D97-AF65-F5344CB8AC3E}">
        <p14:creationId xmlns:p14="http://schemas.microsoft.com/office/powerpoint/2010/main" val="210170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ستطيل 12">
            <a:extLst>
              <a:ext uri="{FF2B5EF4-FFF2-40B4-BE49-F238E27FC236}">
                <a16:creationId xmlns:a16="http://schemas.microsoft.com/office/drawing/2014/main" id="{4BC626CA-4D04-44EF-813A-EC2C86BEB6A0}"/>
              </a:ext>
            </a:extLst>
          </p:cNvPr>
          <p:cNvSpPr>
            <a:spLocks noGrp="1"/>
          </p:cNvSpPr>
          <p:nvPr/>
        </p:nvSpPr>
        <p:spPr>
          <a:xfrm>
            <a:off x="10673715" y="535305"/>
            <a:ext cx="861060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توزيع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302F481A-782C-4D5A-B97C-2B948B6CE6FD}"/>
              </a:ext>
            </a:extLst>
          </p:cNvPr>
          <p:cNvSpPr>
            <a:spLocks noGrp="1"/>
          </p:cNvSpPr>
          <p:nvPr/>
        </p:nvSpPr>
        <p:spPr>
          <a:xfrm>
            <a:off x="9510427" y="535305"/>
            <a:ext cx="1046893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الأسعار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E2095CAF-C07F-48CD-A484-A9E4692B43AC}"/>
              </a:ext>
            </a:extLst>
          </p:cNvPr>
          <p:cNvSpPr>
            <a:spLocks noGrp="1"/>
          </p:cNvSpPr>
          <p:nvPr/>
        </p:nvSpPr>
        <p:spPr>
          <a:xfrm>
            <a:off x="8736806" y="535305"/>
            <a:ext cx="657225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يميل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C5B6161F-19EF-4B6F-8498-58259D735DBA}"/>
              </a:ext>
            </a:extLst>
          </p:cNvPr>
          <p:cNvSpPr>
            <a:spLocks noGrp="1"/>
          </p:cNvSpPr>
          <p:nvPr/>
        </p:nvSpPr>
        <p:spPr>
          <a:xfrm>
            <a:off x="7971377" y="535305"/>
            <a:ext cx="649033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بقوة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E3DACDBF-E03D-4CAC-B88C-641E6CDD4B8C}"/>
              </a:ext>
            </a:extLst>
          </p:cNvPr>
          <p:cNvSpPr>
            <a:spLocks noGrp="1"/>
          </p:cNvSpPr>
          <p:nvPr/>
        </p:nvSpPr>
        <p:spPr>
          <a:xfrm>
            <a:off x="7191184" y="535305"/>
            <a:ext cx="663797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للقيم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639E1E5D-D205-4634-9044-116FBD58364D}"/>
              </a:ext>
            </a:extLst>
          </p:cNvPr>
          <p:cNvSpPr>
            <a:spLocks noGrp="1"/>
          </p:cNvSpPr>
          <p:nvPr/>
        </p:nvSpPr>
        <p:spPr>
          <a:xfrm>
            <a:off x="5889117" y="535305"/>
            <a:ext cx="1185672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المرتفعة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514E90D7-81A3-4964-8D1F-5A44F481FA82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9EA659F2-ACB4-403C-8859-FB9818F82BB0}"/>
              </a:ext>
            </a:extLst>
          </p:cNvPr>
          <p:cNvGraphicFramePr/>
          <p:nvPr/>
        </p:nvGraphicFramePr>
        <p:xfrm>
          <a:off x="857250" y="1666875"/>
          <a:ext cx="10477500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مستطيل 8">
            <a:extLst>
              <a:ext uri="{FF2B5EF4-FFF2-40B4-BE49-F238E27FC236}">
                <a16:creationId xmlns:a16="http://schemas.microsoft.com/office/drawing/2014/main" id="{7DC54EF7-ED1E-4490-B7D1-30AF69FEB7AD}"/>
              </a:ext>
            </a:extLst>
          </p:cNvPr>
          <p:cNvSpPr>
            <a:spLocks noGrp="1"/>
          </p:cNvSpPr>
          <p:nvPr/>
        </p:nvSpPr>
        <p:spPr>
          <a:xfrm>
            <a:off x="809625" y="5095875"/>
            <a:ext cx="4857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349.99 BDT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A4EAEEB6-1836-44F1-80F9-336729790E62}"/>
              </a:ext>
            </a:extLst>
          </p:cNvPr>
          <p:cNvSpPr>
            <a:spLocks noGrp="1"/>
          </p:cNvSpPr>
          <p:nvPr/>
        </p:nvSpPr>
        <p:spPr>
          <a:xfrm>
            <a:off x="2910269" y="5676900"/>
            <a:ext cx="68503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المتوسط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B6D0CC68-57F2-40CC-8661-B6196363C32D}"/>
              </a:ext>
            </a:extLst>
          </p:cNvPr>
          <p:cNvSpPr>
            <a:spLocks noGrp="1"/>
          </p:cNvSpPr>
          <p:nvPr/>
        </p:nvSpPr>
        <p:spPr>
          <a:xfrm>
            <a:off x="6572250" y="5095875"/>
            <a:ext cx="4857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15.05 BDT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223B94BC-E2D1-4BA9-8E71-4747D9897A53}"/>
              </a:ext>
            </a:extLst>
          </p:cNvPr>
          <p:cNvSpPr>
            <a:spLocks noGrp="1"/>
          </p:cNvSpPr>
          <p:nvPr/>
        </p:nvSpPr>
        <p:spPr>
          <a:xfrm>
            <a:off x="8719804" y="5676900"/>
            <a:ext cx="59121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الوسيط</a:t>
            </a:r>
          </a:p>
        </p:txBody>
      </p:sp>
    </p:spTree>
    <p:extLst>
      <p:ext uri="{BB962C8B-B14F-4D97-AF65-F5344CB8AC3E}">
        <p14:creationId xmlns:p14="http://schemas.microsoft.com/office/powerpoint/2010/main" val="904108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مستطيل 16">
            <a:extLst>
              <a:ext uri="{FF2B5EF4-FFF2-40B4-BE49-F238E27FC236}">
                <a16:creationId xmlns:a16="http://schemas.microsoft.com/office/drawing/2014/main" id="{DAD57D1F-6B64-49E2-B9D7-F2582A9B2EFB}"/>
              </a:ext>
            </a:extLst>
          </p:cNvPr>
          <p:cNvSpPr>
            <a:spLocks noGrp="1"/>
          </p:cNvSpPr>
          <p:nvPr/>
        </p:nvSpPr>
        <p:spPr>
          <a:xfrm>
            <a:off x="10321290" y="535305"/>
            <a:ext cx="1213485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الشركات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919D0C2D-3802-4EBF-B1C1-CEA3BF083544}"/>
              </a:ext>
            </a:extLst>
          </p:cNvPr>
          <p:cNvSpPr>
            <a:spLocks noGrp="1"/>
          </p:cNvSpPr>
          <p:nvPr/>
        </p:nvSpPr>
        <p:spPr>
          <a:xfrm>
            <a:off x="9397460" y="535305"/>
            <a:ext cx="807434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الأكثر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E24297DF-FD2A-4E2E-9935-F81A2F6EA8A3}"/>
              </a:ext>
            </a:extLst>
          </p:cNvPr>
          <p:cNvSpPr>
            <a:spLocks noGrp="1"/>
          </p:cNvSpPr>
          <p:nvPr/>
        </p:nvSpPr>
        <p:spPr>
          <a:xfrm>
            <a:off x="8472392" y="535305"/>
            <a:ext cx="808673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تمثيلًا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EF08D2D2-1CFB-4F76-98DE-59C68E7E3246}"/>
              </a:ext>
            </a:extLst>
          </p:cNvPr>
          <p:cNvSpPr>
            <a:spLocks noGrp="1"/>
          </p:cNvSpPr>
          <p:nvPr/>
        </p:nvSpPr>
        <p:spPr>
          <a:xfrm>
            <a:off x="7919752" y="535305"/>
            <a:ext cx="436245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في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D2E1A1A0-282A-4338-A02A-7C73C6BFEDFB}"/>
              </a:ext>
            </a:extLst>
          </p:cNvPr>
          <p:cNvSpPr>
            <a:spLocks noGrp="1"/>
          </p:cNvSpPr>
          <p:nvPr/>
        </p:nvSpPr>
        <p:spPr>
          <a:xfrm>
            <a:off x="6737604" y="535305"/>
            <a:ext cx="1065752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15D180C5-D90E-474B-918D-1E3BF5B82F8E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B7DABD73-78E4-4F34-BAEB-B776A187B8F7}"/>
              </a:ext>
            </a:extLst>
          </p:cNvPr>
          <p:cNvGraphicFramePr/>
          <p:nvPr/>
        </p:nvGraphicFramePr>
        <p:xfrm>
          <a:off x="857250" y="1666875"/>
          <a:ext cx="104775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مستطيل 7">
            <a:extLst>
              <a:ext uri="{FF2B5EF4-FFF2-40B4-BE49-F238E27FC236}">
                <a16:creationId xmlns:a16="http://schemas.microsoft.com/office/drawing/2014/main" id="{17E8D14F-097D-41A1-96F3-A2E9C537D2A3}"/>
              </a:ext>
            </a:extLst>
          </p:cNvPr>
          <p:cNvSpPr>
            <a:spLocks noGrp="1"/>
          </p:cNvSpPr>
          <p:nvPr/>
        </p:nvSpPr>
        <p:spPr>
          <a:xfrm>
            <a:off x="10999280" y="5770245"/>
            <a:ext cx="364045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عدد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7A6A2EA7-3F94-4EDF-BC89-FA096B3FAF1A}"/>
              </a:ext>
            </a:extLst>
          </p:cNvPr>
          <p:cNvSpPr>
            <a:spLocks noGrp="1"/>
          </p:cNvSpPr>
          <p:nvPr/>
        </p:nvSpPr>
        <p:spPr>
          <a:xfrm>
            <a:off x="10178034" y="5770245"/>
            <a:ext cx="752475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المنتجات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586621C1-4E18-40E4-838B-9469504C31FA}"/>
              </a:ext>
            </a:extLst>
          </p:cNvPr>
          <p:cNvSpPr>
            <a:spLocks noGrp="1"/>
          </p:cNvSpPr>
          <p:nvPr/>
        </p:nvSpPr>
        <p:spPr>
          <a:xfrm>
            <a:off x="9435655" y="5770245"/>
            <a:ext cx="673608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المسجلة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D93802E2-9A22-49F9-B73A-D18B5A36FEC5}"/>
              </a:ext>
            </a:extLst>
          </p:cNvPr>
          <p:cNvSpPr>
            <a:spLocks noGrp="1"/>
          </p:cNvSpPr>
          <p:nvPr/>
        </p:nvSpPr>
        <p:spPr>
          <a:xfrm>
            <a:off x="9025985" y="5770245"/>
            <a:ext cx="340900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لكل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84905DB3-4C40-43FC-A287-CC0FDB79318F}"/>
              </a:ext>
            </a:extLst>
          </p:cNvPr>
          <p:cNvSpPr>
            <a:spLocks noGrp="1"/>
          </p:cNvSpPr>
          <p:nvPr/>
        </p:nvSpPr>
        <p:spPr>
          <a:xfrm>
            <a:off x="8368665" y="5770245"/>
            <a:ext cx="588550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شركة،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6CADF007-FD7F-4F8B-9E4C-D289B0FFB086}"/>
              </a:ext>
            </a:extLst>
          </p:cNvPr>
          <p:cNvSpPr>
            <a:spLocks noGrp="1"/>
          </p:cNvSpPr>
          <p:nvPr/>
        </p:nvSpPr>
        <p:spPr>
          <a:xfrm>
            <a:off x="7912417" y="5770245"/>
            <a:ext cx="387477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دون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14231E00-B847-42E0-AD50-017FF7EC2AD1}"/>
              </a:ext>
            </a:extLst>
          </p:cNvPr>
          <p:cNvSpPr>
            <a:spLocks noGrp="1"/>
          </p:cNvSpPr>
          <p:nvPr/>
        </p:nvSpPr>
        <p:spPr>
          <a:xfrm>
            <a:off x="7305294" y="5770245"/>
            <a:ext cx="538353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بيانات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7A06F73F-526D-4AC1-B535-EFF40A8E3EDC}"/>
              </a:ext>
            </a:extLst>
          </p:cNvPr>
          <p:cNvSpPr>
            <a:spLocks noGrp="1"/>
          </p:cNvSpPr>
          <p:nvPr/>
        </p:nvSpPr>
        <p:spPr>
          <a:xfrm>
            <a:off x="6909340" y="5770245"/>
            <a:ext cx="327184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عن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AF36CDEC-349D-4956-B9E0-6C73A06A3A01}"/>
              </a:ext>
            </a:extLst>
          </p:cNvPr>
          <p:cNvSpPr>
            <a:spLocks noGrp="1"/>
          </p:cNvSpPr>
          <p:nvPr/>
        </p:nvSpPr>
        <p:spPr>
          <a:xfrm>
            <a:off x="6121717" y="5770245"/>
            <a:ext cx="718852" cy="346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المبيعات</a:t>
            </a:r>
          </a:p>
        </p:txBody>
      </p:sp>
    </p:spTree>
    <p:extLst>
      <p:ext uri="{BB962C8B-B14F-4D97-AF65-F5344CB8AC3E}">
        <p14:creationId xmlns:p14="http://schemas.microsoft.com/office/powerpoint/2010/main" val="1404365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مستطيل 31">
            <a:extLst>
              <a:ext uri="{FF2B5EF4-FFF2-40B4-BE49-F238E27FC236}">
                <a16:creationId xmlns:a16="http://schemas.microsoft.com/office/drawing/2014/main" id="{27729CB6-13CB-4C51-93B5-F27D81958964}"/>
              </a:ext>
            </a:extLst>
          </p:cNvPr>
          <p:cNvSpPr>
            <a:spLocks noGrp="1"/>
          </p:cNvSpPr>
          <p:nvPr/>
        </p:nvSpPr>
        <p:spPr>
          <a:xfrm>
            <a:off x="10484167" y="535305"/>
            <a:ext cx="1050608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منهجية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7EE703D8-C9F2-4AF9-8462-AA336D9103F1}"/>
              </a:ext>
            </a:extLst>
          </p:cNvPr>
          <p:cNvSpPr>
            <a:spLocks noGrp="1"/>
          </p:cNvSpPr>
          <p:nvPr/>
        </p:nvSpPr>
        <p:spPr>
          <a:xfrm>
            <a:off x="9424035" y="535305"/>
            <a:ext cx="943737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مقارنة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9B4F57FB-3331-40F6-A4F0-78AEF7536BE1}"/>
              </a:ext>
            </a:extLst>
          </p:cNvPr>
          <p:cNvSpPr>
            <a:spLocks noGrp="1"/>
          </p:cNvSpPr>
          <p:nvPr/>
        </p:nvSpPr>
        <p:spPr>
          <a:xfrm>
            <a:off x="8400764" y="535305"/>
            <a:ext cx="906875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البدائل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5390D05F-2D1E-49D2-8C07-8EFDB969300E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4A71F288-0B1C-44DF-8D66-61D9AC0547F4}"/>
              </a:ext>
            </a:extLst>
          </p:cNvPr>
          <p:cNvSpPr>
            <a:spLocks noGrp="1"/>
          </p:cNvSpPr>
          <p:nvPr/>
        </p:nvSpPr>
        <p:spPr>
          <a:xfrm>
            <a:off x="762000" y="1685925"/>
            <a:ext cx="10668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3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3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3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3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3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3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3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3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3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Generic + Dosage Form + Strength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7230A635-4474-431D-A130-76DFC6ADAAD2}"/>
              </a:ext>
            </a:extLst>
          </p:cNvPr>
          <p:cNvSpPr>
            <a:spLocks noGrp="1"/>
          </p:cNvSpPr>
          <p:nvPr/>
        </p:nvSpPr>
        <p:spPr>
          <a:xfrm>
            <a:off x="10784015" y="2912745"/>
            <a:ext cx="484060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سعر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CCE9012F-DB9A-4B14-8CFE-08A1EB6493EE}"/>
              </a:ext>
            </a:extLst>
          </p:cNvPr>
          <p:cNvSpPr>
            <a:spLocks noGrp="1"/>
          </p:cNvSpPr>
          <p:nvPr/>
        </p:nvSpPr>
        <p:spPr>
          <a:xfrm>
            <a:off x="9897904" y="2912745"/>
            <a:ext cx="804100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معروف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739C6BB7-98A1-4354-83F1-2FB99C21DE1C}"/>
              </a:ext>
            </a:extLst>
          </p:cNvPr>
          <p:cNvSpPr>
            <a:spLocks noGrp="1"/>
          </p:cNvSpPr>
          <p:nvPr/>
        </p:nvSpPr>
        <p:spPr>
          <a:xfrm>
            <a:off x="9422225" y="2912745"/>
            <a:ext cx="393668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لكل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3C01CDDB-D1B4-4AFF-846F-8C253E8115BA}"/>
              </a:ext>
            </a:extLst>
          </p:cNvPr>
          <p:cNvSpPr>
            <a:spLocks noGrp="1"/>
          </p:cNvSpPr>
          <p:nvPr/>
        </p:nvSpPr>
        <p:spPr>
          <a:xfrm>
            <a:off x="8857774" y="2912745"/>
            <a:ext cx="482441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منتج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B2590E89-FEB6-40A7-8CC1-5EF8E647F787}"/>
              </a:ext>
            </a:extLst>
          </p:cNvPr>
          <p:cNvSpPr>
            <a:spLocks noGrp="1"/>
          </p:cNvSpPr>
          <p:nvPr/>
        </p:nvSpPr>
        <p:spPr>
          <a:xfrm>
            <a:off x="8242364" y="2912745"/>
            <a:ext cx="533400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داخل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4E411C20-7F57-45A6-A140-05126ACD127C}"/>
              </a:ext>
            </a:extLst>
          </p:cNvPr>
          <p:cNvSpPr>
            <a:spLocks noGrp="1"/>
          </p:cNvSpPr>
          <p:nvPr/>
        </p:nvSpPr>
        <p:spPr>
          <a:xfrm>
            <a:off x="7382637" y="2912745"/>
            <a:ext cx="777716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المقارنة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DFB79FF1-6FF8-4D06-868E-57E21205A046}"/>
              </a:ext>
            </a:extLst>
          </p:cNvPr>
          <p:cNvSpPr>
            <a:spLocks noGrp="1"/>
          </p:cNvSpPr>
          <p:nvPr/>
        </p:nvSpPr>
        <p:spPr>
          <a:xfrm>
            <a:off x="10457307" y="3674745"/>
            <a:ext cx="810768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علامتان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7C9528A2-F340-482E-99CD-838F3F68EF6A}"/>
              </a:ext>
            </a:extLst>
          </p:cNvPr>
          <p:cNvSpPr>
            <a:spLocks noGrp="1"/>
          </p:cNvSpPr>
          <p:nvPr/>
        </p:nvSpPr>
        <p:spPr>
          <a:xfrm>
            <a:off x="9500807" y="3674745"/>
            <a:ext cx="874490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تجاريتان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0D3F3166-6352-480B-830D-AD72A1FFA289}"/>
              </a:ext>
            </a:extLst>
          </p:cNvPr>
          <p:cNvSpPr>
            <a:spLocks noGrp="1"/>
          </p:cNvSpPr>
          <p:nvPr/>
        </p:nvSpPr>
        <p:spPr>
          <a:xfrm>
            <a:off x="8523256" y="3674745"/>
            <a:ext cx="895540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مسعّرتان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5F90FD38-12FB-4615-A2C2-05C0F8936AD6}"/>
              </a:ext>
            </a:extLst>
          </p:cNvPr>
          <p:cNvSpPr>
            <a:spLocks noGrp="1"/>
          </p:cNvSpPr>
          <p:nvPr/>
        </p:nvSpPr>
        <p:spPr>
          <a:xfrm>
            <a:off x="7984427" y="3674745"/>
            <a:ext cx="456819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على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53491A1B-9D75-4D27-B242-590AE67CFEC2}"/>
              </a:ext>
            </a:extLst>
          </p:cNvPr>
          <p:cNvSpPr>
            <a:spLocks noGrp="1"/>
          </p:cNvSpPr>
          <p:nvPr/>
        </p:nvSpPr>
        <p:spPr>
          <a:xfrm>
            <a:off x="7385495" y="3674745"/>
            <a:ext cx="516922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الأقل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7B4B4FF4-E6BF-42D6-9E11-EED65FA4CF07}"/>
              </a:ext>
            </a:extLst>
          </p:cNvPr>
          <p:cNvSpPr>
            <a:spLocks noGrp="1"/>
          </p:cNvSpPr>
          <p:nvPr/>
        </p:nvSpPr>
        <p:spPr>
          <a:xfrm>
            <a:off x="10555605" y="4508183"/>
            <a:ext cx="712470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استبعاد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4DD5A899-AE00-42B1-89EF-9AE91D485F1D}"/>
              </a:ext>
            </a:extLst>
          </p:cNvPr>
          <p:cNvSpPr>
            <a:spLocks noGrp="1"/>
          </p:cNvSpPr>
          <p:nvPr/>
        </p:nvSpPr>
        <p:spPr>
          <a:xfrm>
            <a:off x="9334214" y="4508183"/>
            <a:ext cx="1139381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المجموعات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57E5BEBD-534D-4BB8-AF9E-0398B757B624}"/>
              </a:ext>
            </a:extLst>
          </p:cNvPr>
          <p:cNvSpPr>
            <a:spLocks noGrp="1"/>
          </p:cNvSpPr>
          <p:nvPr/>
        </p:nvSpPr>
        <p:spPr>
          <a:xfrm>
            <a:off x="8817483" y="4508183"/>
            <a:ext cx="434721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التي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EBDC53EE-62CC-45EE-B8E6-33A70FB296CB}"/>
              </a:ext>
            </a:extLst>
          </p:cNvPr>
          <p:cNvSpPr>
            <a:spLocks noGrp="1"/>
          </p:cNvSpPr>
          <p:nvPr/>
        </p:nvSpPr>
        <p:spPr>
          <a:xfrm>
            <a:off x="8207407" y="4508183"/>
            <a:ext cx="528066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تخلط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24D4EC9A-C203-4448-B706-342704A135C9}"/>
              </a:ext>
            </a:extLst>
          </p:cNvPr>
          <p:cNvSpPr>
            <a:spLocks noGrp="1"/>
          </p:cNvSpPr>
          <p:nvPr/>
        </p:nvSpPr>
        <p:spPr>
          <a:xfrm>
            <a:off x="7641336" y="4508183"/>
            <a:ext cx="484060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سعر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6F59C346-04BD-4857-B038-4EFE5B8F3A44}"/>
              </a:ext>
            </a:extLst>
          </p:cNvPr>
          <p:cNvSpPr>
            <a:spLocks noGrp="1"/>
          </p:cNvSpPr>
          <p:nvPr/>
        </p:nvSpPr>
        <p:spPr>
          <a:xfrm>
            <a:off x="6903434" y="4508183"/>
            <a:ext cx="655892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الوحدة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BB33B924-865E-4C9E-9A21-86B69025E57A}"/>
              </a:ext>
            </a:extLst>
          </p:cNvPr>
          <p:cNvSpPr>
            <a:spLocks noGrp="1"/>
          </p:cNvSpPr>
          <p:nvPr/>
        </p:nvSpPr>
        <p:spPr>
          <a:xfrm>
            <a:off x="6209728" y="4508183"/>
            <a:ext cx="611696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وسعر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CD5866EF-85A0-4F93-907F-A00179293C06}"/>
              </a:ext>
            </a:extLst>
          </p:cNvPr>
          <p:cNvSpPr>
            <a:spLocks noGrp="1"/>
          </p:cNvSpPr>
          <p:nvPr/>
        </p:nvSpPr>
        <p:spPr>
          <a:xfrm>
            <a:off x="5539454" y="4508183"/>
            <a:ext cx="588264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العبوة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F112CBFF-393F-457A-BD63-29432AD36B59}"/>
              </a:ext>
            </a:extLst>
          </p:cNvPr>
          <p:cNvSpPr>
            <a:spLocks noGrp="1"/>
          </p:cNvSpPr>
          <p:nvPr/>
        </p:nvSpPr>
        <p:spPr>
          <a:xfrm>
            <a:off x="8161449" y="5517833"/>
            <a:ext cx="1115473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18,476</a:t>
            </a:r>
          </a:p>
        </p:txBody>
      </p:sp>
      <p:sp>
        <p:nvSpPr>
          <p:cNvPr id="26" name="مستطيل 25">
            <a:extLst>
              <a:ext uri="{FF2B5EF4-FFF2-40B4-BE49-F238E27FC236}">
                <a16:creationId xmlns:a16="http://schemas.microsoft.com/office/drawing/2014/main" id="{C8352A66-3262-4342-91BA-B5CA6358AA35}"/>
              </a:ext>
            </a:extLst>
          </p:cNvPr>
          <p:cNvSpPr>
            <a:spLocks noGrp="1"/>
          </p:cNvSpPr>
          <p:nvPr/>
        </p:nvSpPr>
        <p:spPr>
          <a:xfrm>
            <a:off x="7492222" y="5517833"/>
            <a:ext cx="573976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دواءً</a:t>
            </a:r>
          </a:p>
        </p:txBody>
      </p:sp>
      <p:sp>
        <p:nvSpPr>
          <p:cNvPr id="27" name="مستطيل 26">
            <a:extLst>
              <a:ext uri="{FF2B5EF4-FFF2-40B4-BE49-F238E27FC236}">
                <a16:creationId xmlns:a16="http://schemas.microsoft.com/office/drawing/2014/main" id="{B08419F0-8B24-430C-A324-D453EAE6341F}"/>
              </a:ext>
            </a:extLst>
          </p:cNvPr>
          <p:cNvSpPr>
            <a:spLocks noGrp="1"/>
          </p:cNvSpPr>
          <p:nvPr/>
        </p:nvSpPr>
        <p:spPr>
          <a:xfrm>
            <a:off x="6866811" y="5517833"/>
            <a:ext cx="530161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قابلًا</a:t>
            </a:r>
          </a:p>
        </p:txBody>
      </p:sp>
      <p:sp>
        <p:nvSpPr>
          <p:cNvPr id="28" name="مستطيل 27">
            <a:extLst>
              <a:ext uri="{FF2B5EF4-FFF2-40B4-BE49-F238E27FC236}">
                <a16:creationId xmlns:a16="http://schemas.microsoft.com/office/drawing/2014/main" id="{08041DE1-2A0D-4B90-BF30-1FD8735B348A}"/>
              </a:ext>
            </a:extLst>
          </p:cNvPr>
          <p:cNvSpPr>
            <a:spLocks noGrp="1"/>
          </p:cNvSpPr>
          <p:nvPr/>
        </p:nvSpPr>
        <p:spPr>
          <a:xfrm>
            <a:off x="5826585" y="5517833"/>
            <a:ext cx="944975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للمقارنة</a:t>
            </a:r>
          </a:p>
        </p:txBody>
      </p:sp>
      <p:sp>
        <p:nvSpPr>
          <p:cNvPr id="29" name="مستطيل 28">
            <a:extLst>
              <a:ext uri="{FF2B5EF4-FFF2-40B4-BE49-F238E27FC236}">
                <a16:creationId xmlns:a16="http://schemas.microsoft.com/office/drawing/2014/main" id="{5F9BA1B3-EB3C-4C3E-98D1-C085B68A2A6D}"/>
              </a:ext>
            </a:extLst>
          </p:cNvPr>
          <p:cNvSpPr>
            <a:spLocks noGrp="1"/>
          </p:cNvSpPr>
          <p:nvPr/>
        </p:nvSpPr>
        <p:spPr>
          <a:xfrm>
            <a:off x="5072301" y="5517833"/>
            <a:ext cx="659035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ضمن</a:t>
            </a:r>
          </a:p>
        </p:txBody>
      </p:sp>
      <p:sp>
        <p:nvSpPr>
          <p:cNvPr id="30" name="مستطيل 29">
            <a:extLst>
              <a:ext uri="{FF2B5EF4-FFF2-40B4-BE49-F238E27FC236}">
                <a16:creationId xmlns:a16="http://schemas.microsoft.com/office/drawing/2014/main" id="{1B3B3700-1009-43A3-8CC4-EEFC965F2FBC}"/>
              </a:ext>
            </a:extLst>
          </p:cNvPr>
          <p:cNvSpPr>
            <a:spLocks noGrp="1"/>
          </p:cNvSpPr>
          <p:nvPr/>
        </p:nvSpPr>
        <p:spPr>
          <a:xfrm>
            <a:off x="4052268" y="5517833"/>
            <a:ext cx="924782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1,875</a:t>
            </a:r>
          </a:p>
        </p:txBody>
      </p: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B2E0F876-5BF3-4A02-A7ED-3967A1D5AB8F}"/>
              </a:ext>
            </a:extLst>
          </p:cNvPr>
          <p:cNvSpPr>
            <a:spLocks noGrp="1"/>
          </p:cNvSpPr>
          <p:nvPr/>
        </p:nvSpPr>
        <p:spPr>
          <a:xfrm>
            <a:off x="2943654" y="5517833"/>
            <a:ext cx="1013365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مجموعة</a:t>
            </a:r>
          </a:p>
        </p:txBody>
      </p:sp>
    </p:spTree>
    <p:extLst>
      <p:ext uri="{BB962C8B-B14F-4D97-AF65-F5344CB8AC3E}">
        <p14:creationId xmlns:p14="http://schemas.microsoft.com/office/powerpoint/2010/main" val="1941139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مستطيل 37">
            <a:extLst>
              <a:ext uri="{FF2B5EF4-FFF2-40B4-BE49-F238E27FC236}">
                <a16:creationId xmlns:a16="http://schemas.microsoft.com/office/drawing/2014/main" id="{F41D526A-63FC-4FF8-BEF5-132642F334D9}"/>
              </a:ext>
            </a:extLst>
          </p:cNvPr>
          <p:cNvSpPr>
            <a:spLocks noGrp="1"/>
          </p:cNvSpPr>
          <p:nvPr/>
        </p:nvSpPr>
        <p:spPr>
          <a:xfrm>
            <a:off x="10713815" y="535305"/>
            <a:ext cx="820960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فرص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9056DF2A-6799-4D9E-A870-B98F9C1D276F}"/>
              </a:ext>
            </a:extLst>
          </p:cNvPr>
          <p:cNvSpPr>
            <a:spLocks noGrp="1"/>
          </p:cNvSpPr>
          <p:nvPr/>
        </p:nvSpPr>
        <p:spPr>
          <a:xfrm>
            <a:off x="9615964" y="535305"/>
            <a:ext cx="981456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التوفير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73A89DE6-EC6D-4EDA-ACEC-71B576364C8A}"/>
              </a:ext>
            </a:extLst>
          </p:cNvPr>
          <p:cNvSpPr>
            <a:spLocks noGrp="1"/>
          </p:cNvSpPr>
          <p:nvPr/>
        </p:nvSpPr>
        <p:spPr>
          <a:xfrm>
            <a:off x="8789956" y="535305"/>
            <a:ext cx="709613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داخل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81E866D9-2C8A-4127-8F68-D33A3C9F3C19}"/>
              </a:ext>
            </a:extLst>
          </p:cNvPr>
          <p:cNvSpPr>
            <a:spLocks noGrp="1"/>
          </p:cNvSpPr>
          <p:nvPr/>
        </p:nvSpPr>
        <p:spPr>
          <a:xfrm>
            <a:off x="7253383" y="535305"/>
            <a:ext cx="1420178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مجموعات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8874EBA9-796C-4766-9702-5B0712DD1E5F}"/>
              </a:ext>
            </a:extLst>
          </p:cNvPr>
          <p:cNvSpPr>
            <a:spLocks noGrp="1"/>
          </p:cNvSpPr>
          <p:nvPr/>
        </p:nvSpPr>
        <p:spPr>
          <a:xfrm>
            <a:off x="6004179" y="535305"/>
            <a:ext cx="1132808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المقارنة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217A6807-FD7A-49CF-AD71-17D695AAC5CF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4639E868-3A3F-41EF-B720-0CBA3A9EA29D}"/>
              </a:ext>
            </a:extLst>
          </p:cNvPr>
          <p:cNvSpPr>
            <a:spLocks noGrp="1"/>
          </p:cNvSpPr>
          <p:nvPr/>
        </p:nvSpPr>
        <p:spPr>
          <a:xfrm>
            <a:off x="7905750" y="1819275"/>
            <a:ext cx="3143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79.8%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040A9940-BBF7-4ACC-8DA3-5B3F8AA7FD66}"/>
              </a:ext>
            </a:extLst>
          </p:cNvPr>
          <p:cNvSpPr>
            <a:spLocks noGrp="1"/>
          </p:cNvSpPr>
          <p:nvPr/>
        </p:nvSpPr>
        <p:spPr>
          <a:xfrm>
            <a:off x="10053733" y="3058478"/>
            <a:ext cx="343091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ليها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BDA66782-E355-48EB-95D1-7A6CECB71905}"/>
              </a:ext>
            </a:extLst>
          </p:cNvPr>
          <p:cNvSpPr>
            <a:spLocks noGrp="1"/>
          </p:cNvSpPr>
          <p:nvPr/>
        </p:nvSpPr>
        <p:spPr>
          <a:xfrm>
            <a:off x="9531858" y="3058478"/>
            <a:ext cx="450437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خيار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DD0B324A-0BCD-4E14-A078-4BF75A066971}"/>
              </a:ext>
            </a:extLst>
          </p:cNvPr>
          <p:cNvSpPr>
            <a:spLocks noGrp="1"/>
          </p:cNvSpPr>
          <p:nvPr/>
        </p:nvSpPr>
        <p:spPr>
          <a:xfrm>
            <a:off x="9141428" y="3058478"/>
            <a:ext cx="318992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أقل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5EFCA4A4-F788-4D83-8986-475337729753}"/>
              </a:ext>
            </a:extLst>
          </p:cNvPr>
          <p:cNvSpPr>
            <a:spLocks noGrp="1"/>
          </p:cNvSpPr>
          <p:nvPr/>
        </p:nvSpPr>
        <p:spPr>
          <a:xfrm>
            <a:off x="8586502" y="3058478"/>
            <a:ext cx="483489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سعرًا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8460CBC2-2055-4A9F-9D8E-BE263DBC5629}"/>
              </a:ext>
            </a:extLst>
          </p:cNvPr>
          <p:cNvSpPr>
            <a:spLocks noGrp="1"/>
          </p:cNvSpPr>
          <p:nvPr/>
        </p:nvSpPr>
        <p:spPr>
          <a:xfrm>
            <a:off x="4524375" y="1819275"/>
            <a:ext cx="3143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28.6%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59DF2BFD-28C4-4B23-BA06-F862BB544532}"/>
              </a:ext>
            </a:extLst>
          </p:cNvPr>
          <p:cNvSpPr>
            <a:spLocks noGrp="1"/>
          </p:cNvSpPr>
          <p:nvPr/>
        </p:nvSpPr>
        <p:spPr>
          <a:xfrm>
            <a:off x="6948964" y="2924175"/>
            <a:ext cx="526637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وسيط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0419FC5E-AAB7-4D55-AC9F-5E49DDF59539}"/>
              </a:ext>
            </a:extLst>
          </p:cNvPr>
          <p:cNvSpPr>
            <a:spLocks noGrp="1"/>
          </p:cNvSpPr>
          <p:nvPr/>
        </p:nvSpPr>
        <p:spPr>
          <a:xfrm>
            <a:off x="6273165" y="2924175"/>
            <a:ext cx="604361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التوفير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C3B3E9E0-8FDA-4C08-B7F9-D67A8CE2CAE2}"/>
              </a:ext>
            </a:extLst>
          </p:cNvPr>
          <p:cNvSpPr>
            <a:spLocks noGrp="1"/>
          </p:cNvSpPr>
          <p:nvPr/>
        </p:nvSpPr>
        <p:spPr>
          <a:xfrm>
            <a:off x="5850255" y="2924175"/>
            <a:ext cx="351472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عند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C84407DC-F64C-4A00-A9ED-A08B4FF92672}"/>
              </a:ext>
            </a:extLst>
          </p:cNvPr>
          <p:cNvSpPr>
            <a:spLocks noGrp="1"/>
          </p:cNvSpPr>
          <p:nvPr/>
        </p:nvSpPr>
        <p:spPr>
          <a:xfrm>
            <a:off x="5266849" y="2924175"/>
            <a:ext cx="511969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وجود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47A864BE-6B7C-4C32-804C-72EFD9499982}"/>
              </a:ext>
            </a:extLst>
          </p:cNvPr>
          <p:cNvSpPr>
            <a:spLocks noGrp="1"/>
          </p:cNvSpPr>
          <p:nvPr/>
        </p:nvSpPr>
        <p:spPr>
          <a:xfrm>
            <a:off x="4744974" y="2924175"/>
            <a:ext cx="450437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خيار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2A5AC6A0-BF9D-4117-AF58-6E86969EFAC8}"/>
              </a:ext>
            </a:extLst>
          </p:cNvPr>
          <p:cNvSpPr>
            <a:spLocks noGrp="1"/>
          </p:cNvSpPr>
          <p:nvPr/>
        </p:nvSpPr>
        <p:spPr>
          <a:xfrm>
            <a:off x="5778151" y="3284220"/>
            <a:ext cx="664274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أرخص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77939613-B043-4FC4-AAD1-A9A679EBA899}"/>
              </a:ext>
            </a:extLst>
          </p:cNvPr>
          <p:cNvSpPr>
            <a:spLocks noGrp="1"/>
          </p:cNvSpPr>
          <p:nvPr/>
        </p:nvSpPr>
        <p:spPr>
          <a:xfrm>
            <a:off x="1143000" y="1819275"/>
            <a:ext cx="3143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15.4%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9383090A-3EC5-4CA4-8265-7BA1D0805440}"/>
              </a:ext>
            </a:extLst>
          </p:cNvPr>
          <p:cNvSpPr>
            <a:spLocks noGrp="1"/>
          </p:cNvSpPr>
          <p:nvPr/>
        </p:nvSpPr>
        <p:spPr>
          <a:xfrm>
            <a:off x="3684127" y="3058478"/>
            <a:ext cx="497872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توفير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198B4F2F-492C-4475-9346-F4A2DEABE7CE}"/>
              </a:ext>
            </a:extLst>
          </p:cNvPr>
          <p:cNvSpPr>
            <a:spLocks noGrp="1"/>
          </p:cNvSpPr>
          <p:nvPr/>
        </p:nvSpPr>
        <p:spPr>
          <a:xfrm>
            <a:off x="3014043" y="3058478"/>
            <a:ext cx="598646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محتمل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204A773D-B7FA-4647-8CC7-C92783C3E656}"/>
              </a:ext>
            </a:extLst>
          </p:cNvPr>
          <p:cNvSpPr>
            <a:spLocks noGrp="1"/>
          </p:cNvSpPr>
          <p:nvPr/>
        </p:nvSpPr>
        <p:spPr>
          <a:xfrm>
            <a:off x="2736009" y="3058478"/>
            <a:ext cx="206597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لا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ADA94829-6F39-4394-85BC-CF5862A01262}"/>
              </a:ext>
            </a:extLst>
          </p:cNvPr>
          <p:cNvSpPr>
            <a:spLocks noGrp="1"/>
          </p:cNvSpPr>
          <p:nvPr/>
        </p:nvSpPr>
        <p:spPr>
          <a:xfrm>
            <a:off x="2337292" y="3058478"/>
            <a:ext cx="327279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يقل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C0B41CED-870B-433C-B21F-35C7EF057E78}"/>
              </a:ext>
            </a:extLst>
          </p:cNvPr>
          <p:cNvSpPr>
            <a:spLocks noGrp="1"/>
          </p:cNvSpPr>
          <p:nvPr/>
        </p:nvSpPr>
        <p:spPr>
          <a:xfrm>
            <a:off x="1928670" y="3058478"/>
            <a:ext cx="337185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عن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A9863CEF-934A-48A8-9091-3835E6AD68AE}"/>
              </a:ext>
            </a:extLst>
          </p:cNvPr>
          <p:cNvSpPr>
            <a:spLocks noGrp="1"/>
          </p:cNvSpPr>
          <p:nvPr/>
        </p:nvSpPr>
        <p:spPr>
          <a:xfrm>
            <a:off x="1275826" y="3058478"/>
            <a:ext cx="581406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26" name="مستطيل 25">
            <a:extLst>
              <a:ext uri="{FF2B5EF4-FFF2-40B4-BE49-F238E27FC236}">
                <a16:creationId xmlns:a16="http://schemas.microsoft.com/office/drawing/2014/main" id="{D5731060-EBAB-4A61-81EB-6D603FDC2D3B}"/>
              </a:ext>
            </a:extLst>
          </p:cNvPr>
          <p:cNvSpPr>
            <a:spLocks noGrp="1"/>
          </p:cNvSpPr>
          <p:nvPr/>
        </p:nvSpPr>
        <p:spPr>
          <a:xfrm>
            <a:off x="10378345" y="5159693"/>
            <a:ext cx="984980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23.4%</a:t>
            </a:r>
          </a:p>
        </p:txBody>
      </p:sp>
      <p:sp>
        <p:nvSpPr>
          <p:cNvPr id="27" name="مستطيل 26">
            <a:extLst>
              <a:ext uri="{FF2B5EF4-FFF2-40B4-BE49-F238E27FC236}">
                <a16:creationId xmlns:a16="http://schemas.microsoft.com/office/drawing/2014/main" id="{AF74D915-3F63-43AA-A8D3-BCA367FA1F66}"/>
              </a:ext>
            </a:extLst>
          </p:cNvPr>
          <p:cNvSpPr>
            <a:spLocks noGrp="1"/>
          </p:cNvSpPr>
          <p:nvPr/>
        </p:nvSpPr>
        <p:spPr>
          <a:xfrm>
            <a:off x="9912001" y="5159693"/>
            <a:ext cx="376333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من</a:t>
            </a:r>
          </a:p>
        </p:txBody>
      </p:sp>
      <p:sp>
        <p:nvSpPr>
          <p:cNvPr id="28" name="مستطيل 27">
            <a:extLst>
              <a:ext uri="{FF2B5EF4-FFF2-40B4-BE49-F238E27FC236}">
                <a16:creationId xmlns:a16="http://schemas.microsoft.com/office/drawing/2014/main" id="{6AC859B3-3C13-484A-BECE-89770CC189D0}"/>
              </a:ext>
            </a:extLst>
          </p:cNvPr>
          <p:cNvSpPr>
            <a:spLocks noGrp="1"/>
          </p:cNvSpPr>
          <p:nvPr/>
        </p:nvSpPr>
        <p:spPr>
          <a:xfrm>
            <a:off x="8563356" y="5159693"/>
            <a:ext cx="1258633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المجموعات</a:t>
            </a:r>
          </a:p>
        </p:txBody>
      </p:sp>
      <p:sp>
        <p:nvSpPr>
          <p:cNvPr id="29" name="مستطيل 28">
            <a:extLst>
              <a:ext uri="{FF2B5EF4-FFF2-40B4-BE49-F238E27FC236}">
                <a16:creationId xmlns:a16="http://schemas.microsoft.com/office/drawing/2014/main" id="{3E9E89C7-B281-4DE7-B653-563A4AA2BE44}"/>
              </a:ext>
            </a:extLst>
          </p:cNvPr>
          <p:cNvSpPr>
            <a:spLocks noGrp="1"/>
          </p:cNvSpPr>
          <p:nvPr/>
        </p:nvSpPr>
        <p:spPr>
          <a:xfrm>
            <a:off x="7922800" y="5159693"/>
            <a:ext cx="550545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يصل</a:t>
            </a:r>
          </a:p>
        </p:txBody>
      </p:sp>
      <p:sp>
        <p:nvSpPr>
          <p:cNvPr id="30" name="مستطيل 29">
            <a:extLst>
              <a:ext uri="{FF2B5EF4-FFF2-40B4-BE49-F238E27FC236}">
                <a16:creationId xmlns:a16="http://schemas.microsoft.com/office/drawing/2014/main" id="{F7BA8661-220D-46D9-809D-85C74C8239DB}"/>
              </a:ext>
            </a:extLst>
          </p:cNvPr>
          <p:cNvSpPr>
            <a:spLocks noGrp="1"/>
          </p:cNvSpPr>
          <p:nvPr/>
        </p:nvSpPr>
        <p:spPr>
          <a:xfrm>
            <a:off x="7265289" y="5159693"/>
            <a:ext cx="567500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أعلى</a:t>
            </a:r>
          </a:p>
        </p:txBody>
      </p: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4188E99E-5CC8-4F9E-B663-CFDA2C957147}"/>
              </a:ext>
            </a:extLst>
          </p:cNvPr>
          <p:cNvSpPr>
            <a:spLocks noGrp="1"/>
          </p:cNvSpPr>
          <p:nvPr/>
        </p:nvSpPr>
        <p:spPr>
          <a:xfrm>
            <a:off x="6654736" y="5159693"/>
            <a:ext cx="520541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سعر</a:t>
            </a:r>
          </a:p>
        </p:txBody>
      </p:sp>
      <p:sp>
        <p:nvSpPr>
          <p:cNvPr id="32" name="مستطيل 31">
            <a:extLst>
              <a:ext uri="{FF2B5EF4-FFF2-40B4-BE49-F238E27FC236}">
                <a16:creationId xmlns:a16="http://schemas.microsoft.com/office/drawing/2014/main" id="{EAB3CF3F-66B7-4156-9AE7-BF17250B3A77}"/>
              </a:ext>
            </a:extLst>
          </p:cNvPr>
          <p:cNvSpPr>
            <a:spLocks noGrp="1"/>
          </p:cNvSpPr>
          <p:nvPr/>
        </p:nvSpPr>
        <p:spPr>
          <a:xfrm>
            <a:off x="6089428" y="5159693"/>
            <a:ext cx="475298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فيها</a:t>
            </a:r>
          </a:p>
        </p:txBody>
      </p:sp>
      <p:sp>
        <p:nvSpPr>
          <p:cNvPr id="33" name="مستطيل 32">
            <a:extLst>
              <a:ext uri="{FF2B5EF4-FFF2-40B4-BE49-F238E27FC236}">
                <a16:creationId xmlns:a16="http://schemas.microsoft.com/office/drawing/2014/main" id="{8711D18F-A6DD-42A5-951F-6F042927E979}"/>
              </a:ext>
            </a:extLst>
          </p:cNvPr>
          <p:cNvSpPr>
            <a:spLocks noGrp="1"/>
          </p:cNvSpPr>
          <p:nvPr/>
        </p:nvSpPr>
        <p:spPr>
          <a:xfrm>
            <a:off x="5244846" y="5159693"/>
            <a:ext cx="754571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لضعف</a:t>
            </a:r>
          </a:p>
        </p:txBody>
      </p:sp>
      <p:sp>
        <p:nvSpPr>
          <p:cNvPr id="34" name="مستطيل 33">
            <a:extLst>
              <a:ext uri="{FF2B5EF4-FFF2-40B4-BE49-F238E27FC236}">
                <a16:creationId xmlns:a16="http://schemas.microsoft.com/office/drawing/2014/main" id="{F7924768-D041-472F-AF58-37A4DE8C7726}"/>
              </a:ext>
            </a:extLst>
          </p:cNvPr>
          <p:cNvSpPr>
            <a:spLocks noGrp="1"/>
          </p:cNvSpPr>
          <p:nvPr/>
        </p:nvSpPr>
        <p:spPr>
          <a:xfrm>
            <a:off x="4773168" y="5159693"/>
            <a:ext cx="381667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أقل</a:t>
            </a:r>
          </a:p>
        </p:txBody>
      </p:sp>
      <p:sp>
        <p:nvSpPr>
          <p:cNvPr id="35" name="مستطيل 34">
            <a:extLst>
              <a:ext uri="{FF2B5EF4-FFF2-40B4-BE49-F238E27FC236}">
                <a16:creationId xmlns:a16="http://schemas.microsoft.com/office/drawing/2014/main" id="{F186E9C3-64CB-4466-873C-786F1D823FAD}"/>
              </a:ext>
            </a:extLst>
          </p:cNvPr>
          <p:cNvSpPr>
            <a:spLocks noGrp="1"/>
          </p:cNvSpPr>
          <p:nvPr/>
        </p:nvSpPr>
        <p:spPr>
          <a:xfrm>
            <a:off x="4162615" y="5159693"/>
            <a:ext cx="520541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سعر</a:t>
            </a:r>
          </a:p>
        </p:txBody>
      </p:sp>
      <p:sp>
        <p:nvSpPr>
          <p:cNvPr id="36" name="مستطيل 35">
            <a:extLst>
              <a:ext uri="{FF2B5EF4-FFF2-40B4-BE49-F238E27FC236}">
                <a16:creationId xmlns:a16="http://schemas.microsoft.com/office/drawing/2014/main" id="{1E7ED0BC-698A-4253-B91B-042108BDDC12}"/>
              </a:ext>
            </a:extLst>
          </p:cNvPr>
          <p:cNvSpPr>
            <a:spLocks noGrp="1"/>
          </p:cNvSpPr>
          <p:nvPr/>
        </p:nvSpPr>
        <p:spPr>
          <a:xfrm>
            <a:off x="3789616" y="5159693"/>
            <a:ext cx="282988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أو</a:t>
            </a:r>
          </a:p>
        </p:txBody>
      </p:sp>
      <p:sp>
        <p:nvSpPr>
          <p:cNvPr id="37" name="مستطيل 36">
            <a:extLst>
              <a:ext uri="{FF2B5EF4-FFF2-40B4-BE49-F238E27FC236}">
                <a16:creationId xmlns:a16="http://schemas.microsoft.com/office/drawing/2014/main" id="{5374C8CF-5776-40EC-A133-FE71A581FEF3}"/>
              </a:ext>
            </a:extLst>
          </p:cNvPr>
          <p:cNvSpPr>
            <a:spLocks noGrp="1"/>
          </p:cNvSpPr>
          <p:nvPr/>
        </p:nvSpPr>
        <p:spPr>
          <a:xfrm>
            <a:off x="3218021" y="5159693"/>
            <a:ext cx="481584" cy="4533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5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أكثر</a:t>
            </a:r>
          </a:p>
        </p:txBody>
      </p:sp>
    </p:spTree>
    <p:extLst>
      <p:ext uri="{BB962C8B-B14F-4D97-AF65-F5344CB8AC3E}">
        <p14:creationId xmlns:p14="http://schemas.microsoft.com/office/powerpoint/2010/main" val="2141653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مستطيل 23">
            <a:extLst>
              <a:ext uri="{FF2B5EF4-FFF2-40B4-BE49-F238E27FC236}">
                <a16:creationId xmlns:a16="http://schemas.microsoft.com/office/drawing/2014/main" id="{3D94A45C-7242-4B30-B421-21E82B140B12}"/>
              </a:ext>
            </a:extLst>
          </p:cNvPr>
          <p:cNvSpPr>
            <a:spLocks noGrp="1"/>
          </p:cNvSpPr>
          <p:nvPr/>
        </p:nvSpPr>
        <p:spPr>
          <a:xfrm>
            <a:off x="10893076" y="535305"/>
            <a:ext cx="641699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مثال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B1598533-5CF7-4BFC-B15A-8D1834E00510}"/>
              </a:ext>
            </a:extLst>
          </p:cNvPr>
          <p:cNvSpPr>
            <a:spLocks noGrp="1"/>
          </p:cNvSpPr>
          <p:nvPr/>
        </p:nvSpPr>
        <p:spPr>
          <a:xfrm>
            <a:off x="9723691" y="535305"/>
            <a:ext cx="1052989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حقيقي: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D188FA6B-0EAB-492C-8530-BB1C7199B203}"/>
              </a:ext>
            </a:extLst>
          </p:cNvPr>
          <p:cNvSpPr>
            <a:spLocks noGrp="1"/>
          </p:cNvSpPr>
          <p:nvPr/>
        </p:nvSpPr>
        <p:spPr>
          <a:xfrm>
            <a:off x="8003762" y="535305"/>
            <a:ext cx="1603534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Celofen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143F0D00-CB7F-4B4E-9110-04A7BE457CF5}"/>
              </a:ext>
            </a:extLst>
          </p:cNvPr>
          <p:cNvSpPr>
            <a:spLocks noGrp="1"/>
          </p:cNvSpPr>
          <p:nvPr/>
        </p:nvSpPr>
        <p:spPr>
          <a:xfrm>
            <a:off x="6965728" y="535305"/>
            <a:ext cx="921639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بتركيز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C2534245-03A3-41D6-AE8E-F5EBDE698D9E}"/>
              </a:ext>
            </a:extLst>
          </p:cNvPr>
          <p:cNvSpPr>
            <a:spLocks noGrp="1"/>
          </p:cNvSpPr>
          <p:nvPr/>
        </p:nvSpPr>
        <p:spPr>
          <a:xfrm>
            <a:off x="5338286" y="535305"/>
            <a:ext cx="1511046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100 mg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F255B5F6-3B5E-4EA4-8904-954414DA2634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3ACF6A4E-668F-4B1F-A0D9-21D29DCE9F61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Aceclofenac / Tablet / 100 mg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0EA70957-4E41-4EE9-AABF-BAF9FCFDA229}"/>
              </a:ext>
            </a:extLst>
          </p:cNvPr>
          <p:cNvGraphicFramePr/>
          <p:nvPr/>
        </p:nvGraphicFramePr>
        <p:xfrm>
          <a:off x="809625" y="2362200"/>
          <a:ext cx="6286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مستطيل 8">
            <a:extLst>
              <a:ext uri="{FF2B5EF4-FFF2-40B4-BE49-F238E27FC236}">
                <a16:creationId xmlns:a16="http://schemas.microsoft.com/office/drawing/2014/main" id="{80DA33C3-0C12-4C0B-8117-F5F91207F738}"/>
              </a:ext>
            </a:extLst>
          </p:cNvPr>
          <p:cNvSpPr>
            <a:spLocks noGrp="1"/>
          </p:cNvSpPr>
          <p:nvPr/>
        </p:nvSpPr>
        <p:spPr>
          <a:xfrm>
            <a:off x="7810500" y="2466975"/>
            <a:ext cx="3429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150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62.59%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8A486A6A-92DC-4698-93B4-2C6337595E6B}"/>
              </a:ext>
            </a:extLst>
          </p:cNvPr>
          <p:cNvSpPr>
            <a:spLocks noGrp="1"/>
          </p:cNvSpPr>
          <p:nvPr/>
        </p:nvSpPr>
        <p:spPr>
          <a:xfrm>
            <a:off x="9990249" y="3706178"/>
            <a:ext cx="425196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نسبة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C2FE1AE5-027F-4247-BE39-361521AB45FE}"/>
              </a:ext>
            </a:extLst>
          </p:cNvPr>
          <p:cNvSpPr>
            <a:spLocks noGrp="1"/>
          </p:cNvSpPr>
          <p:nvPr/>
        </p:nvSpPr>
        <p:spPr>
          <a:xfrm>
            <a:off x="9314450" y="3706178"/>
            <a:ext cx="604361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التوفير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9AEA7F40-7F26-4C81-BB55-63033139025E}"/>
              </a:ext>
            </a:extLst>
          </p:cNvPr>
          <p:cNvSpPr>
            <a:spLocks noGrp="1"/>
          </p:cNvSpPr>
          <p:nvPr/>
        </p:nvSpPr>
        <p:spPr>
          <a:xfrm>
            <a:off x="8663130" y="3706178"/>
            <a:ext cx="579882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للوحدة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26E3441F-05BE-4FFB-AD80-D3C1D81E186D}"/>
              </a:ext>
            </a:extLst>
          </p:cNvPr>
          <p:cNvSpPr>
            <a:spLocks noGrp="1"/>
          </p:cNvSpPr>
          <p:nvPr/>
        </p:nvSpPr>
        <p:spPr>
          <a:xfrm>
            <a:off x="10968228" y="5498783"/>
            <a:ext cx="395097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DC3EEE79-B5CE-4616-8EA5-F9DC26E29E3B}"/>
              </a:ext>
            </a:extLst>
          </p:cNvPr>
          <p:cNvSpPr>
            <a:spLocks noGrp="1"/>
          </p:cNvSpPr>
          <p:nvPr/>
        </p:nvSpPr>
        <p:spPr>
          <a:xfrm>
            <a:off x="10230993" y="5498783"/>
            <a:ext cx="655225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وحدة: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8AF0162D-F10D-4EA7-BCF2-7F2D9F1BEFE9}"/>
              </a:ext>
            </a:extLst>
          </p:cNvPr>
          <p:cNvSpPr>
            <a:spLocks noGrp="1"/>
          </p:cNvSpPr>
          <p:nvPr/>
        </p:nvSpPr>
        <p:spPr>
          <a:xfrm>
            <a:off x="9179147" y="5498783"/>
            <a:ext cx="969835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120.30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F40EA890-F56E-47FE-8C8A-92D83447A7D1}"/>
              </a:ext>
            </a:extLst>
          </p:cNvPr>
          <p:cNvSpPr>
            <a:spLocks noGrp="1"/>
          </p:cNvSpPr>
          <p:nvPr/>
        </p:nvSpPr>
        <p:spPr>
          <a:xfrm>
            <a:off x="8529637" y="5498783"/>
            <a:ext cx="567500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مقابل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4D790439-0D36-42BC-9005-57A35E3C4C20}"/>
              </a:ext>
            </a:extLst>
          </p:cNvPr>
          <p:cNvSpPr>
            <a:spLocks noGrp="1"/>
          </p:cNvSpPr>
          <p:nvPr/>
        </p:nvSpPr>
        <p:spPr>
          <a:xfrm>
            <a:off x="6953155" y="5498783"/>
            <a:ext cx="1494472" cy="41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45.00 BDT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93012EA2-BE45-42E3-98A2-B434A27B8BCB}"/>
              </a:ext>
            </a:extLst>
          </p:cNvPr>
          <p:cNvSpPr>
            <a:spLocks noGrp="1"/>
          </p:cNvSpPr>
          <p:nvPr/>
        </p:nvSpPr>
        <p:spPr>
          <a:xfrm>
            <a:off x="10783348" y="5972175"/>
            <a:ext cx="57997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إجمالي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AF4FBE1D-CCFB-4E7F-82FA-4B9D248D1B1C}"/>
              </a:ext>
            </a:extLst>
          </p:cNvPr>
          <p:cNvSpPr>
            <a:spLocks noGrp="1"/>
          </p:cNvSpPr>
          <p:nvPr/>
        </p:nvSpPr>
        <p:spPr>
          <a:xfrm>
            <a:off x="10152602" y="5972175"/>
            <a:ext cx="56454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التوفير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1F875B19-E990-4E8C-B0D9-71BD241AFC5F}"/>
              </a:ext>
            </a:extLst>
          </p:cNvPr>
          <p:cNvSpPr>
            <a:spLocks noGrp="1"/>
          </p:cNvSpPr>
          <p:nvPr/>
        </p:nvSpPr>
        <p:spPr>
          <a:xfrm>
            <a:off x="9815894" y="5972175"/>
            <a:ext cx="27051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في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A5AA235D-C954-483E-9E33-AC6550EA693D}"/>
              </a:ext>
            </a:extLst>
          </p:cNvPr>
          <p:cNvSpPr>
            <a:spLocks noGrp="1"/>
          </p:cNvSpPr>
          <p:nvPr/>
        </p:nvSpPr>
        <p:spPr>
          <a:xfrm>
            <a:off x="9257252" y="5972175"/>
            <a:ext cx="49244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المثال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5C7AFF17-698C-40BA-AFC0-965A0AE43EAC}"/>
              </a:ext>
            </a:extLst>
          </p:cNvPr>
          <p:cNvSpPr>
            <a:spLocks noGrp="1"/>
          </p:cNvSpPr>
          <p:nvPr/>
        </p:nvSpPr>
        <p:spPr>
          <a:xfrm>
            <a:off x="8985314" y="5972175"/>
            <a:ext cx="20574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C467A9E9-A868-4922-AD24-F3B81CBDDE81}"/>
              </a:ext>
            </a:extLst>
          </p:cNvPr>
          <p:cNvSpPr>
            <a:spLocks noGrp="1"/>
          </p:cNvSpPr>
          <p:nvPr/>
        </p:nvSpPr>
        <p:spPr>
          <a:xfrm>
            <a:off x="7714107" y="5972175"/>
            <a:ext cx="120500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75.30 BDT</a:t>
            </a:r>
          </a:p>
        </p:txBody>
      </p:sp>
    </p:spTree>
    <p:extLst>
      <p:ext uri="{BB962C8B-B14F-4D97-AF65-F5344CB8AC3E}">
        <p14:creationId xmlns:p14="http://schemas.microsoft.com/office/powerpoint/2010/main" val="100241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مستطيل 20">
            <a:extLst>
              <a:ext uri="{FF2B5EF4-FFF2-40B4-BE49-F238E27FC236}">
                <a16:creationId xmlns:a16="http://schemas.microsoft.com/office/drawing/2014/main" id="{11740926-FF91-4D2E-9C0E-0BD1E332B229}"/>
              </a:ext>
            </a:extLst>
          </p:cNvPr>
          <p:cNvSpPr>
            <a:spLocks noGrp="1"/>
          </p:cNvSpPr>
          <p:nvPr/>
        </p:nvSpPr>
        <p:spPr>
          <a:xfrm>
            <a:off x="10668762" y="535305"/>
            <a:ext cx="866013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مؤشر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C80E83D1-7F1E-42C1-BF76-084ABE1FA8B6}"/>
              </a:ext>
            </a:extLst>
          </p:cNvPr>
          <p:cNvSpPr>
            <a:spLocks noGrp="1"/>
          </p:cNvSpPr>
          <p:nvPr/>
        </p:nvSpPr>
        <p:spPr>
          <a:xfrm>
            <a:off x="9709309" y="535305"/>
            <a:ext cx="843058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أسعار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DFC8BB04-206F-4737-A827-7C90B3394920}"/>
              </a:ext>
            </a:extLst>
          </p:cNvPr>
          <p:cNvSpPr>
            <a:spLocks noGrp="1"/>
          </p:cNvSpPr>
          <p:nvPr/>
        </p:nvSpPr>
        <p:spPr>
          <a:xfrm>
            <a:off x="8379428" y="535305"/>
            <a:ext cx="1213485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الشركات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1A321678-ADF2-49E0-84AC-46FA0EF7F0AE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B4F073FF-EA95-481A-A368-215A46119CBC}"/>
              </a:ext>
            </a:extLst>
          </p:cNvPr>
          <p:cNvSpPr>
            <a:spLocks noGrp="1"/>
          </p:cNvSpPr>
          <p:nvPr/>
        </p:nvSpPr>
        <p:spPr>
          <a:xfrm>
            <a:off x="10856119" y="1537335"/>
            <a:ext cx="507206" cy="4400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سعر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637FD613-1233-4894-B4E9-E7E542DD6769}"/>
              </a:ext>
            </a:extLst>
          </p:cNvPr>
          <p:cNvSpPr>
            <a:spLocks noGrp="1"/>
          </p:cNvSpPr>
          <p:nvPr/>
        </p:nvSpPr>
        <p:spPr>
          <a:xfrm>
            <a:off x="10083546" y="1537335"/>
            <a:ext cx="685229" cy="4400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المنتج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F063051F-AF99-424B-BFBB-F43FFA6E862E}"/>
              </a:ext>
            </a:extLst>
          </p:cNvPr>
          <p:cNvSpPr>
            <a:spLocks noGrp="1"/>
          </p:cNvSpPr>
          <p:nvPr/>
        </p:nvSpPr>
        <p:spPr>
          <a:xfrm>
            <a:off x="9757029" y="1537335"/>
            <a:ext cx="239173" cy="4400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÷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13BDF597-4490-4DC1-8CA8-C5D51304BB1A}"/>
              </a:ext>
            </a:extLst>
          </p:cNvPr>
          <p:cNvSpPr>
            <a:spLocks noGrp="1"/>
          </p:cNvSpPr>
          <p:nvPr/>
        </p:nvSpPr>
        <p:spPr>
          <a:xfrm>
            <a:off x="9020080" y="1537335"/>
            <a:ext cx="649605" cy="4400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وسيط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FEE0CE3C-9649-44EE-971D-630859B1ECFC}"/>
              </a:ext>
            </a:extLst>
          </p:cNvPr>
          <p:cNvSpPr>
            <a:spLocks noGrp="1"/>
          </p:cNvSpPr>
          <p:nvPr/>
        </p:nvSpPr>
        <p:spPr>
          <a:xfrm>
            <a:off x="8283797" y="1537335"/>
            <a:ext cx="648938" cy="4400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أسعار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746F5349-4799-4947-97E8-F2DF37F1CCA5}"/>
              </a:ext>
            </a:extLst>
          </p:cNvPr>
          <p:cNvSpPr>
            <a:spLocks noGrp="1"/>
          </p:cNvSpPr>
          <p:nvPr/>
        </p:nvSpPr>
        <p:spPr>
          <a:xfrm>
            <a:off x="7262050" y="1537335"/>
            <a:ext cx="934402" cy="4400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مجموعة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6A0F9636-7458-42E7-8D73-C72A150ECF9C}"/>
              </a:ext>
            </a:extLst>
          </p:cNvPr>
          <p:cNvSpPr>
            <a:spLocks noGrp="1"/>
          </p:cNvSpPr>
          <p:nvPr/>
        </p:nvSpPr>
        <p:spPr>
          <a:xfrm>
            <a:off x="6308407" y="1537335"/>
            <a:ext cx="866299" cy="4400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4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المقارنة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2504B612-2C62-4A6C-B00F-C2F5C1832093}"/>
              </a:ext>
            </a:extLst>
          </p:cNvPr>
          <p:cNvGraphicFramePr/>
          <p:nvPr/>
        </p:nvGraphicFramePr>
        <p:xfrm>
          <a:off x="857250" y="2381250"/>
          <a:ext cx="10477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مستطيل 12">
            <a:extLst>
              <a:ext uri="{FF2B5EF4-FFF2-40B4-BE49-F238E27FC236}">
                <a16:creationId xmlns:a16="http://schemas.microsoft.com/office/drawing/2014/main" id="{C34607CB-E51B-4D47-A754-CE4E3F8E53E7}"/>
              </a:ext>
            </a:extLst>
          </p:cNvPr>
          <p:cNvSpPr>
            <a:spLocks noGrp="1"/>
          </p:cNvSpPr>
          <p:nvPr/>
        </p:nvSpPr>
        <p:spPr>
          <a:xfrm>
            <a:off x="10796111" y="5706428"/>
            <a:ext cx="567214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86E0FB6E-686D-4637-8F29-896711EE09EA}"/>
              </a:ext>
            </a:extLst>
          </p:cNvPr>
          <p:cNvSpPr>
            <a:spLocks noGrp="1"/>
          </p:cNvSpPr>
          <p:nvPr/>
        </p:nvSpPr>
        <p:spPr>
          <a:xfrm>
            <a:off x="10300906" y="5706428"/>
            <a:ext cx="423767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يمثل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590B803A-35F4-487F-A193-DFCEBFE236D7}"/>
              </a:ext>
            </a:extLst>
          </p:cNvPr>
          <p:cNvSpPr>
            <a:spLocks noGrp="1"/>
          </p:cNvSpPr>
          <p:nvPr/>
        </p:nvSpPr>
        <p:spPr>
          <a:xfrm>
            <a:off x="9702832" y="5706428"/>
            <a:ext cx="526637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وسيط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D695B806-C495-4633-9F2C-5040C9C905CF}"/>
              </a:ext>
            </a:extLst>
          </p:cNvPr>
          <p:cNvSpPr>
            <a:spLocks noGrp="1"/>
          </p:cNvSpPr>
          <p:nvPr/>
        </p:nvSpPr>
        <p:spPr>
          <a:xfrm>
            <a:off x="8694515" y="5706428"/>
            <a:ext cx="936879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المجموعة،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C3C86B39-738E-4AA8-B212-8AF85C41EDB4}"/>
              </a:ext>
            </a:extLst>
          </p:cNvPr>
          <p:cNvSpPr>
            <a:spLocks noGrp="1"/>
          </p:cNvSpPr>
          <p:nvPr/>
        </p:nvSpPr>
        <p:spPr>
          <a:xfrm>
            <a:off x="7893463" y="5706428"/>
            <a:ext cx="729615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والتحليل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C3E8893D-CB7C-4F52-A5EE-C9F912178CE4}"/>
              </a:ext>
            </a:extLst>
          </p:cNvPr>
          <p:cNvSpPr>
            <a:spLocks noGrp="1"/>
          </p:cNvSpPr>
          <p:nvPr/>
        </p:nvSpPr>
        <p:spPr>
          <a:xfrm>
            <a:off x="7324534" y="5706428"/>
            <a:ext cx="497491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يشمل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AACEFCFE-EFD1-470F-98F1-E6D7B534F33A}"/>
              </a:ext>
            </a:extLst>
          </p:cNvPr>
          <p:cNvSpPr>
            <a:spLocks noGrp="1"/>
          </p:cNvSpPr>
          <p:nvPr/>
        </p:nvSpPr>
        <p:spPr>
          <a:xfrm>
            <a:off x="6757321" y="5706428"/>
            <a:ext cx="495776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4ABD7E97-B920-4337-8285-B2DAA0CD7EF7}"/>
              </a:ext>
            </a:extLst>
          </p:cNvPr>
          <p:cNvSpPr>
            <a:spLocks noGrp="1"/>
          </p:cNvSpPr>
          <p:nvPr/>
        </p:nvSpPr>
        <p:spPr>
          <a:xfrm>
            <a:off x="6013228" y="5706428"/>
            <a:ext cx="672655" cy="3600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شركات</a:t>
            </a:r>
          </a:p>
        </p:txBody>
      </p:sp>
    </p:spTree>
    <p:extLst>
      <p:ext uri="{BB962C8B-B14F-4D97-AF65-F5344CB8AC3E}">
        <p14:creationId xmlns:p14="http://schemas.microsoft.com/office/powerpoint/2010/main" val="1423111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مستطيل 34">
            <a:extLst>
              <a:ext uri="{FF2B5EF4-FFF2-40B4-BE49-F238E27FC236}">
                <a16:creationId xmlns:a16="http://schemas.microsoft.com/office/drawing/2014/main" id="{0AA68FC2-924F-42A0-A410-ACAB148B8568}"/>
              </a:ext>
            </a:extLst>
          </p:cNvPr>
          <p:cNvSpPr>
            <a:spLocks noGrp="1"/>
          </p:cNvSpPr>
          <p:nvPr/>
        </p:nvSpPr>
        <p:spPr>
          <a:xfrm>
            <a:off x="10212038" y="535305"/>
            <a:ext cx="1322737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التطبيقات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5B708BAE-0794-4AAA-8ABC-9DA5643F9BE0}"/>
              </a:ext>
            </a:extLst>
          </p:cNvPr>
          <p:cNvSpPr>
            <a:spLocks noGrp="1"/>
          </p:cNvSpPr>
          <p:nvPr/>
        </p:nvSpPr>
        <p:spPr>
          <a:xfrm>
            <a:off x="8879300" y="535305"/>
            <a:ext cx="1216342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التفاعلية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F0722B02-C082-4A93-9DFA-AB5F742DAF9B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01F848D8-5353-4E59-AB1F-056C46962456}"/>
              </a:ext>
            </a:extLst>
          </p:cNvPr>
          <p:cNvSpPr>
            <a:spLocks noGrp="1"/>
          </p:cNvSpPr>
          <p:nvPr/>
        </p:nvSpPr>
        <p:spPr>
          <a:xfrm>
            <a:off x="6953250" y="1714500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BE0E237B-C11B-4015-9A48-F43647E7CC12}"/>
              </a:ext>
            </a:extLst>
          </p:cNvPr>
          <p:cNvSpPr>
            <a:spLocks noGrp="1"/>
          </p:cNvSpPr>
          <p:nvPr/>
        </p:nvSpPr>
        <p:spPr>
          <a:xfrm>
            <a:off x="6199822" y="1857375"/>
            <a:ext cx="36290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ست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3A8D02BE-293B-4805-86F8-C1D995307AC6}"/>
              </a:ext>
            </a:extLst>
          </p:cNvPr>
          <p:cNvSpPr>
            <a:spLocks noGrp="1"/>
          </p:cNvSpPr>
          <p:nvPr/>
        </p:nvSpPr>
        <p:spPr>
          <a:xfrm>
            <a:off x="5452205" y="1857375"/>
            <a:ext cx="68141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صفحات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0484F377-4F97-415B-8E13-B9DFF8B8FC19}"/>
              </a:ext>
            </a:extLst>
          </p:cNvPr>
          <p:cNvSpPr>
            <a:spLocks noGrp="1"/>
          </p:cNvSpPr>
          <p:nvPr/>
        </p:nvSpPr>
        <p:spPr>
          <a:xfrm>
            <a:off x="4808410" y="1857375"/>
            <a:ext cx="57759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للتحليل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182E6748-4829-4B6C-B0D4-9A1E05B33C8C}"/>
              </a:ext>
            </a:extLst>
          </p:cNvPr>
          <p:cNvSpPr>
            <a:spLocks noGrp="1"/>
          </p:cNvSpPr>
          <p:nvPr/>
        </p:nvSpPr>
        <p:spPr>
          <a:xfrm>
            <a:off x="4119848" y="1857375"/>
            <a:ext cx="62236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والبحث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CC21F971-3019-4D87-9CE1-D7E792E19821}"/>
              </a:ext>
            </a:extLst>
          </p:cNvPr>
          <p:cNvSpPr>
            <a:spLocks noGrp="1"/>
          </p:cNvSpPr>
          <p:nvPr/>
        </p:nvSpPr>
        <p:spPr>
          <a:xfrm>
            <a:off x="3330893" y="1857375"/>
            <a:ext cx="72275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والحاسبة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D6D7D788-ED92-48CF-925A-F6FEADF90946}"/>
              </a:ext>
            </a:extLst>
          </p:cNvPr>
          <p:cNvSpPr>
            <a:spLocks noGrp="1"/>
          </p:cNvSpPr>
          <p:nvPr/>
        </p:nvSpPr>
        <p:spPr>
          <a:xfrm>
            <a:off x="2398681" y="1857375"/>
            <a:ext cx="86601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واستكشاف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3FD3B1C2-CD27-4658-AC10-C59CC75DD41A}"/>
              </a:ext>
            </a:extLst>
          </p:cNvPr>
          <p:cNvSpPr>
            <a:spLocks noGrp="1"/>
          </p:cNvSpPr>
          <p:nvPr/>
        </p:nvSpPr>
        <p:spPr>
          <a:xfrm>
            <a:off x="1713643" y="1857375"/>
            <a:ext cx="61883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93289EFF-2177-4E77-9408-6CF5457EDD67}"/>
              </a:ext>
            </a:extLst>
          </p:cNvPr>
          <p:cNvSpPr>
            <a:spLocks noGrp="1"/>
          </p:cNvSpPr>
          <p:nvPr/>
        </p:nvSpPr>
        <p:spPr>
          <a:xfrm>
            <a:off x="6953250" y="2667000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Flask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92BCBC78-F283-4A21-A098-E39F3DD48F41}"/>
              </a:ext>
            </a:extLst>
          </p:cNvPr>
          <p:cNvSpPr>
            <a:spLocks noGrp="1"/>
          </p:cNvSpPr>
          <p:nvPr/>
        </p:nvSpPr>
        <p:spPr>
          <a:xfrm>
            <a:off x="6034564" y="2809875"/>
            <a:ext cx="52816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واجهة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CDE5C4DB-97F6-4565-AA58-221A8EDA171F}"/>
              </a:ext>
            </a:extLst>
          </p:cNvPr>
          <p:cNvSpPr>
            <a:spLocks noGrp="1"/>
          </p:cNvSpPr>
          <p:nvPr/>
        </p:nvSpPr>
        <p:spPr>
          <a:xfrm>
            <a:off x="5570791" y="2809875"/>
            <a:ext cx="39757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ويب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63F91EB6-8A53-4C55-A370-B6125EEF4A51}"/>
              </a:ext>
            </a:extLst>
          </p:cNvPr>
          <p:cNvSpPr>
            <a:spLocks noGrp="1"/>
          </p:cNvSpPr>
          <p:nvPr/>
        </p:nvSpPr>
        <p:spPr>
          <a:xfrm>
            <a:off x="4951190" y="2809875"/>
            <a:ext cx="55340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وAPI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015BF8B3-1132-4CF9-897D-8A5F4F0ACB75}"/>
              </a:ext>
            </a:extLst>
          </p:cNvPr>
          <p:cNvSpPr>
            <a:spLocks noGrp="1"/>
          </p:cNvSpPr>
          <p:nvPr/>
        </p:nvSpPr>
        <p:spPr>
          <a:xfrm>
            <a:off x="4365593" y="2809875"/>
            <a:ext cx="51939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للبحث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C61024D7-1E58-4618-A598-AE4B131D5669}"/>
              </a:ext>
            </a:extLst>
          </p:cNvPr>
          <p:cNvSpPr>
            <a:spLocks noGrp="1"/>
          </p:cNvSpPr>
          <p:nvPr/>
        </p:nvSpPr>
        <p:spPr>
          <a:xfrm>
            <a:off x="3664744" y="2809875"/>
            <a:ext cx="63465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والبدائل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D9C9F5AE-D2B9-4903-8D10-CD7A5A5DE8AD}"/>
              </a:ext>
            </a:extLst>
          </p:cNvPr>
          <p:cNvSpPr>
            <a:spLocks noGrp="1"/>
          </p:cNvSpPr>
          <p:nvPr/>
        </p:nvSpPr>
        <p:spPr>
          <a:xfrm>
            <a:off x="2875788" y="2809875"/>
            <a:ext cx="72275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والحاسبة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A8A7CF39-1265-4192-B8F7-0C2FEBB4ECB2}"/>
              </a:ext>
            </a:extLst>
          </p:cNvPr>
          <p:cNvSpPr>
            <a:spLocks noGrp="1"/>
          </p:cNvSpPr>
          <p:nvPr/>
        </p:nvSpPr>
        <p:spPr>
          <a:xfrm>
            <a:off x="1931289" y="2809875"/>
            <a:ext cx="8783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والمقارنات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DD88EA12-4CC3-473A-ABFE-56D0A6A8054D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HTML Portal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FABAFE3D-21B7-4973-9759-C5673FE92285}"/>
              </a:ext>
            </a:extLst>
          </p:cNvPr>
          <p:cNvSpPr>
            <a:spLocks noGrp="1"/>
          </p:cNvSpPr>
          <p:nvPr/>
        </p:nvSpPr>
        <p:spPr>
          <a:xfrm>
            <a:off x="6016561" y="3762375"/>
            <a:ext cx="54616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صفحة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1B2641A7-EFCA-4C6D-BB1E-A490667E94B7}"/>
              </a:ext>
            </a:extLst>
          </p:cNvPr>
          <p:cNvSpPr>
            <a:spLocks noGrp="1"/>
          </p:cNvSpPr>
          <p:nvPr/>
        </p:nvSpPr>
        <p:spPr>
          <a:xfrm>
            <a:off x="5347240" y="3762375"/>
            <a:ext cx="60312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تعريفية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FFEACFFB-AE5A-4D81-9534-1B11D1B6392A}"/>
              </a:ext>
            </a:extLst>
          </p:cNvPr>
          <p:cNvSpPr>
            <a:spLocks noGrp="1"/>
          </p:cNvSpPr>
          <p:nvPr/>
        </p:nvSpPr>
        <p:spPr>
          <a:xfrm>
            <a:off x="4636484" y="3762375"/>
            <a:ext cx="64455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بالعربية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0A680AD3-7400-4AC2-B4F2-1D3A346A50BF}"/>
              </a:ext>
            </a:extLst>
          </p:cNvPr>
          <p:cNvSpPr>
            <a:spLocks noGrp="1"/>
          </p:cNvSpPr>
          <p:nvPr/>
        </p:nvSpPr>
        <p:spPr>
          <a:xfrm>
            <a:off x="3666363" y="3762375"/>
            <a:ext cx="90392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والإنجليزية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2E968E86-A54A-489D-9D34-B81491520A8A}"/>
              </a:ext>
            </a:extLst>
          </p:cNvPr>
          <p:cNvSpPr>
            <a:spLocks noGrp="1"/>
          </p:cNvSpPr>
          <p:nvPr/>
        </p:nvSpPr>
        <p:spPr>
          <a:xfrm>
            <a:off x="2965418" y="3762375"/>
            <a:ext cx="63474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وروابط</a:t>
            </a:r>
          </a:p>
        </p:txBody>
      </p:sp>
      <p:sp>
        <p:nvSpPr>
          <p:cNvPr id="26" name="مستطيل 25">
            <a:extLst>
              <a:ext uri="{FF2B5EF4-FFF2-40B4-BE49-F238E27FC236}">
                <a16:creationId xmlns:a16="http://schemas.microsoft.com/office/drawing/2014/main" id="{419CEDEB-B983-42CC-9640-89F7DF790ED5}"/>
              </a:ext>
            </a:extLst>
          </p:cNvPr>
          <p:cNvSpPr>
            <a:spLocks noGrp="1"/>
          </p:cNvSpPr>
          <p:nvPr/>
        </p:nvSpPr>
        <p:spPr>
          <a:xfrm>
            <a:off x="2267712" y="3762375"/>
            <a:ext cx="63150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التقارير</a:t>
            </a:r>
          </a:p>
        </p:txBody>
      </p:sp>
      <p:sp>
        <p:nvSpPr>
          <p:cNvPr id="27" name="مستطيل 26">
            <a:extLst>
              <a:ext uri="{FF2B5EF4-FFF2-40B4-BE49-F238E27FC236}">
                <a16:creationId xmlns:a16="http://schemas.microsoft.com/office/drawing/2014/main" id="{2AF57306-3C87-4C20-BF58-496AD19C13DC}"/>
              </a:ext>
            </a:extLst>
          </p:cNvPr>
          <p:cNvSpPr>
            <a:spLocks noGrp="1"/>
          </p:cNvSpPr>
          <p:nvPr/>
        </p:nvSpPr>
        <p:spPr>
          <a:xfrm>
            <a:off x="10594753" y="4607243"/>
            <a:ext cx="673322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مصادر</a:t>
            </a:r>
          </a:p>
        </p:txBody>
      </p:sp>
      <p:sp>
        <p:nvSpPr>
          <p:cNvPr id="28" name="مستطيل 27">
            <a:extLst>
              <a:ext uri="{FF2B5EF4-FFF2-40B4-BE49-F238E27FC236}">
                <a16:creationId xmlns:a16="http://schemas.microsoft.com/office/drawing/2014/main" id="{F18322D8-950D-409F-920A-08CBE205F5C4}"/>
              </a:ext>
            </a:extLst>
          </p:cNvPr>
          <p:cNvSpPr>
            <a:spLocks noGrp="1"/>
          </p:cNvSpPr>
          <p:nvPr/>
        </p:nvSpPr>
        <p:spPr>
          <a:xfrm>
            <a:off x="9784461" y="4607243"/>
            <a:ext cx="733520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التشغيل</a:t>
            </a:r>
          </a:p>
        </p:txBody>
      </p:sp>
      <p:sp>
        <p:nvSpPr>
          <p:cNvPr id="29" name="مستطيل 28">
            <a:extLst>
              <a:ext uri="{FF2B5EF4-FFF2-40B4-BE49-F238E27FC236}">
                <a16:creationId xmlns:a16="http://schemas.microsoft.com/office/drawing/2014/main" id="{63714562-1F9E-4CEE-81D8-9D2BBBCAC614}"/>
              </a:ext>
            </a:extLst>
          </p:cNvPr>
          <p:cNvSpPr>
            <a:spLocks noGrp="1"/>
          </p:cNvSpPr>
          <p:nvPr/>
        </p:nvSpPr>
        <p:spPr>
          <a:xfrm>
            <a:off x="5768054" y="4714875"/>
            <a:ext cx="79467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30" name="مستطيل 29">
            <a:extLst>
              <a:ext uri="{FF2B5EF4-FFF2-40B4-BE49-F238E27FC236}">
                <a16:creationId xmlns:a16="http://schemas.microsoft.com/office/drawing/2014/main" id="{349BDFE7-B6A1-4A04-AE95-BC0FAC529835}"/>
              </a:ext>
            </a:extLst>
          </p:cNvPr>
          <p:cNvSpPr>
            <a:spLocks noGrp="1"/>
          </p:cNvSpPr>
          <p:nvPr/>
        </p:nvSpPr>
        <p:spPr>
          <a:xfrm>
            <a:off x="5102066" y="4714875"/>
            <a:ext cx="5997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وملفات</a:t>
            </a:r>
          </a:p>
        </p:txBody>
      </p: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1D064B6C-4DEE-4DB1-AFA2-9FBF5D21EF44}"/>
              </a:ext>
            </a:extLst>
          </p:cNvPr>
          <p:cNvSpPr>
            <a:spLocks noGrp="1"/>
          </p:cNvSpPr>
          <p:nvPr/>
        </p:nvSpPr>
        <p:spPr>
          <a:xfrm>
            <a:off x="4614958" y="4714875"/>
            <a:ext cx="42091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نتائج</a:t>
            </a:r>
          </a:p>
        </p:txBody>
      </p:sp>
      <p:sp>
        <p:nvSpPr>
          <p:cNvPr id="32" name="مستطيل 31">
            <a:extLst>
              <a:ext uri="{FF2B5EF4-FFF2-40B4-BE49-F238E27FC236}">
                <a16:creationId xmlns:a16="http://schemas.microsoft.com/office/drawing/2014/main" id="{6E03364D-1C83-4E45-B65E-FC2173B17A4D}"/>
              </a:ext>
            </a:extLst>
          </p:cNvPr>
          <p:cNvSpPr>
            <a:spLocks noGrp="1"/>
          </p:cNvSpPr>
          <p:nvPr/>
        </p:nvSpPr>
        <p:spPr>
          <a:xfrm>
            <a:off x="3971163" y="4714875"/>
            <a:ext cx="57759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التحليل</a:t>
            </a:r>
          </a:p>
        </p:txBody>
      </p:sp>
      <p:sp>
        <p:nvSpPr>
          <p:cNvPr id="33" name="مستطيل 32">
            <a:extLst>
              <a:ext uri="{FF2B5EF4-FFF2-40B4-BE49-F238E27FC236}">
                <a16:creationId xmlns:a16="http://schemas.microsoft.com/office/drawing/2014/main" id="{776EC719-29C7-48C3-8187-77C6BDAC4AA0}"/>
              </a:ext>
            </a:extLst>
          </p:cNvPr>
          <p:cNvSpPr>
            <a:spLocks noGrp="1"/>
          </p:cNvSpPr>
          <p:nvPr/>
        </p:nvSpPr>
        <p:spPr>
          <a:xfrm>
            <a:off x="3348704" y="4714875"/>
            <a:ext cx="55626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34" name="مستطيل 33">
            <a:extLst>
              <a:ext uri="{FF2B5EF4-FFF2-40B4-BE49-F238E27FC236}">
                <a16:creationId xmlns:a16="http://schemas.microsoft.com/office/drawing/2014/main" id="{5D67A9CE-0526-43E1-A82B-09E5A1098FC0}"/>
              </a:ext>
            </a:extLst>
          </p:cNvPr>
          <p:cNvSpPr>
            <a:spLocks noGrp="1"/>
          </p:cNvSpPr>
          <p:nvPr/>
        </p:nvSpPr>
        <p:spPr>
          <a:xfrm>
            <a:off x="2645664" y="4714875"/>
            <a:ext cx="63684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الجاهزة</a:t>
            </a:r>
          </a:p>
        </p:txBody>
      </p:sp>
    </p:spTree>
    <p:extLst>
      <p:ext uri="{BB962C8B-B14F-4D97-AF65-F5344CB8AC3E}">
        <p14:creationId xmlns:p14="http://schemas.microsoft.com/office/powerpoint/2010/main" val="1286998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مستطيل 48">
            <a:extLst>
              <a:ext uri="{FF2B5EF4-FFF2-40B4-BE49-F238E27FC236}">
                <a16:creationId xmlns:a16="http://schemas.microsoft.com/office/drawing/2014/main" id="{CFBECF2E-73C2-4715-983A-6C0DEBE2C64A}"/>
              </a:ext>
            </a:extLst>
          </p:cNvPr>
          <p:cNvSpPr>
            <a:spLocks noGrp="1"/>
          </p:cNvSpPr>
          <p:nvPr/>
        </p:nvSpPr>
        <p:spPr>
          <a:xfrm>
            <a:off x="10772299" y="535305"/>
            <a:ext cx="762476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حدود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A576A3A4-D61C-46EF-B7FA-C1E8387BFF65}"/>
              </a:ext>
            </a:extLst>
          </p:cNvPr>
          <p:cNvSpPr>
            <a:spLocks noGrp="1"/>
          </p:cNvSpPr>
          <p:nvPr/>
        </p:nvSpPr>
        <p:spPr>
          <a:xfrm>
            <a:off x="9726454" y="535305"/>
            <a:ext cx="929450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النتائج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1632D4ED-2FF4-4312-86E7-9C2488F879FD}"/>
              </a:ext>
            </a:extLst>
          </p:cNvPr>
          <p:cNvSpPr>
            <a:spLocks noGrp="1"/>
          </p:cNvSpPr>
          <p:nvPr/>
        </p:nvSpPr>
        <p:spPr>
          <a:xfrm>
            <a:off x="8347900" y="535305"/>
            <a:ext cx="1262158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والتطوير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9CF697FB-FE3A-4F65-807A-8981C0A827A8}"/>
              </a:ext>
            </a:extLst>
          </p:cNvPr>
          <p:cNvSpPr>
            <a:spLocks noGrp="1"/>
          </p:cNvSpPr>
          <p:nvPr/>
        </p:nvSpPr>
        <p:spPr>
          <a:xfrm>
            <a:off x="7128986" y="535305"/>
            <a:ext cx="1102519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المقترح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EECE798E-B544-45FA-A17E-8AE399066EBB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BE3E9DA4-515A-4D7B-9617-06C6D30A9195}"/>
              </a:ext>
            </a:extLst>
          </p:cNvPr>
          <p:cNvSpPr>
            <a:spLocks noGrp="1"/>
          </p:cNvSpPr>
          <p:nvPr/>
        </p:nvSpPr>
        <p:spPr>
          <a:xfrm>
            <a:off x="10742867" y="1654493"/>
            <a:ext cx="525208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حدود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9DE1394D-34E5-4C22-9373-8912E964CBEC}"/>
              </a:ext>
            </a:extLst>
          </p:cNvPr>
          <p:cNvSpPr>
            <a:spLocks noGrp="1"/>
          </p:cNvSpPr>
          <p:nvPr/>
        </p:nvSpPr>
        <p:spPr>
          <a:xfrm>
            <a:off x="9940957" y="1654493"/>
            <a:ext cx="725138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435B93AC-C16E-4519-A099-50B8FEA39D40}"/>
              </a:ext>
            </a:extLst>
          </p:cNvPr>
          <p:cNvSpPr>
            <a:spLocks noGrp="1"/>
          </p:cNvSpPr>
          <p:nvPr/>
        </p:nvSpPr>
        <p:spPr>
          <a:xfrm>
            <a:off x="6366510" y="1762125"/>
            <a:ext cx="19621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لا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5B6D148D-92E8-4698-B5F7-F7786EA5F4DB}"/>
              </a:ext>
            </a:extLst>
          </p:cNvPr>
          <p:cNvSpPr>
            <a:spLocks noGrp="1"/>
          </p:cNvSpPr>
          <p:nvPr/>
        </p:nvSpPr>
        <p:spPr>
          <a:xfrm>
            <a:off x="5866066" y="1762125"/>
            <a:ext cx="43424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توجد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B4F4276C-1382-4763-A3CB-B9018D067540}"/>
              </a:ext>
            </a:extLst>
          </p:cNvPr>
          <p:cNvSpPr>
            <a:spLocks noGrp="1"/>
          </p:cNvSpPr>
          <p:nvPr/>
        </p:nvSpPr>
        <p:spPr>
          <a:xfrm>
            <a:off x="5279612" y="1762125"/>
            <a:ext cx="52025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بيانات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E18858EE-80F6-41D9-9A1F-B039278E4EE1}"/>
              </a:ext>
            </a:extLst>
          </p:cNvPr>
          <p:cNvSpPr>
            <a:spLocks noGrp="1"/>
          </p:cNvSpPr>
          <p:nvPr/>
        </p:nvSpPr>
        <p:spPr>
          <a:xfrm>
            <a:off x="4582192" y="1762125"/>
            <a:ext cx="63122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مخزون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26EB4BDA-1682-42F3-AA96-06E3858236E5}"/>
              </a:ext>
            </a:extLst>
          </p:cNvPr>
          <p:cNvSpPr>
            <a:spLocks noGrp="1"/>
          </p:cNvSpPr>
          <p:nvPr/>
        </p:nvSpPr>
        <p:spPr>
          <a:xfrm>
            <a:off x="4297109" y="1762125"/>
            <a:ext cx="21888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أو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C19BF979-EEF6-4517-AAC3-825A15E06982}"/>
              </a:ext>
            </a:extLst>
          </p:cNvPr>
          <p:cNvSpPr>
            <a:spLocks noGrp="1"/>
          </p:cNvSpPr>
          <p:nvPr/>
        </p:nvSpPr>
        <p:spPr>
          <a:xfrm>
            <a:off x="3635788" y="1762125"/>
            <a:ext cx="59512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مبيعات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F6FD4836-97B6-4888-BBE2-75C8CD56C205}"/>
              </a:ext>
            </a:extLst>
          </p:cNvPr>
          <p:cNvSpPr>
            <a:spLocks noGrp="1"/>
          </p:cNvSpPr>
          <p:nvPr/>
        </p:nvSpPr>
        <p:spPr>
          <a:xfrm>
            <a:off x="3350705" y="1762125"/>
            <a:ext cx="21888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أو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37F2C370-6EE1-4573-B295-8D4C2D57396F}"/>
              </a:ext>
            </a:extLst>
          </p:cNvPr>
          <p:cNvSpPr>
            <a:spLocks noGrp="1"/>
          </p:cNvSpPr>
          <p:nvPr/>
        </p:nvSpPr>
        <p:spPr>
          <a:xfrm>
            <a:off x="2725198" y="1762125"/>
            <a:ext cx="55930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تحديث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A94EB2E8-9952-41F2-9E48-12F7F1CA7A67}"/>
              </a:ext>
            </a:extLst>
          </p:cNvPr>
          <p:cNvSpPr>
            <a:spLocks noGrp="1"/>
          </p:cNvSpPr>
          <p:nvPr/>
        </p:nvSpPr>
        <p:spPr>
          <a:xfrm>
            <a:off x="2151793" y="1762125"/>
            <a:ext cx="50720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أسعار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C4F12FF5-8E6C-483D-B0F2-FDE11EA33124}"/>
              </a:ext>
            </a:extLst>
          </p:cNvPr>
          <p:cNvSpPr>
            <a:spLocks noGrp="1"/>
          </p:cNvSpPr>
          <p:nvPr/>
        </p:nvSpPr>
        <p:spPr>
          <a:xfrm>
            <a:off x="1569530" y="1762125"/>
            <a:ext cx="51606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مباشر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BE161982-229E-4E25-AD90-C32573DA697B}"/>
              </a:ext>
            </a:extLst>
          </p:cNvPr>
          <p:cNvSpPr>
            <a:spLocks noGrp="1"/>
          </p:cNvSpPr>
          <p:nvPr/>
        </p:nvSpPr>
        <p:spPr>
          <a:xfrm>
            <a:off x="10759154" y="2626043"/>
            <a:ext cx="508921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معنى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CB9E704E-3095-4004-9599-0EBE96B9E166}"/>
              </a:ext>
            </a:extLst>
          </p:cNvPr>
          <p:cNvSpPr>
            <a:spLocks noGrp="1"/>
          </p:cNvSpPr>
          <p:nvPr/>
        </p:nvSpPr>
        <p:spPr>
          <a:xfrm>
            <a:off x="10121837" y="2626043"/>
            <a:ext cx="560546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البديل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CBC28214-2882-4441-A356-E15887FEA788}"/>
              </a:ext>
            </a:extLst>
          </p:cNvPr>
          <p:cNvSpPr>
            <a:spLocks noGrp="1"/>
          </p:cNvSpPr>
          <p:nvPr/>
        </p:nvSpPr>
        <p:spPr>
          <a:xfrm>
            <a:off x="6048184" y="2733675"/>
            <a:ext cx="51454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تطابق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27214A6E-F209-4037-BF17-02696ED506A8}"/>
              </a:ext>
            </a:extLst>
          </p:cNvPr>
          <p:cNvSpPr>
            <a:spLocks noGrp="1"/>
          </p:cNvSpPr>
          <p:nvPr/>
        </p:nvSpPr>
        <p:spPr>
          <a:xfrm>
            <a:off x="5257133" y="2733675"/>
            <a:ext cx="72485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معلومات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327A7B95-AA0B-43F3-8BC6-37E7132BE5F4}"/>
              </a:ext>
            </a:extLst>
          </p:cNvPr>
          <p:cNvSpPr>
            <a:spLocks noGrp="1"/>
          </p:cNvSpPr>
          <p:nvPr/>
        </p:nvSpPr>
        <p:spPr>
          <a:xfrm>
            <a:off x="4690301" y="2733675"/>
            <a:ext cx="50063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المنتج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A58550C9-5174-4C7E-ABB4-7832BB9D46EC}"/>
              </a:ext>
            </a:extLst>
          </p:cNvPr>
          <p:cNvSpPr>
            <a:spLocks noGrp="1"/>
          </p:cNvSpPr>
          <p:nvPr/>
        </p:nvSpPr>
        <p:spPr>
          <a:xfrm>
            <a:off x="3973830" y="2733675"/>
            <a:ext cx="65027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المسجلة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2AD721FD-31ED-405F-A878-F4A2A3C7B955}"/>
              </a:ext>
            </a:extLst>
          </p:cNvPr>
          <p:cNvSpPr>
            <a:spLocks noGrp="1"/>
          </p:cNvSpPr>
          <p:nvPr/>
        </p:nvSpPr>
        <p:spPr>
          <a:xfrm>
            <a:off x="3711416" y="2733675"/>
            <a:ext cx="19621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لا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90C39B7D-FCE6-4C15-9E2C-2D243797D25F}"/>
              </a:ext>
            </a:extLst>
          </p:cNvPr>
          <p:cNvSpPr>
            <a:spLocks noGrp="1"/>
          </p:cNvSpPr>
          <p:nvPr/>
        </p:nvSpPr>
        <p:spPr>
          <a:xfrm>
            <a:off x="3234214" y="2733675"/>
            <a:ext cx="41100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يثبت</a:t>
            </a:r>
          </a:p>
        </p:txBody>
      </p:sp>
      <p:sp>
        <p:nvSpPr>
          <p:cNvPr id="26" name="مستطيل 25">
            <a:extLst>
              <a:ext uri="{FF2B5EF4-FFF2-40B4-BE49-F238E27FC236}">
                <a16:creationId xmlns:a16="http://schemas.microsoft.com/office/drawing/2014/main" id="{A04A57AE-D6D0-4C91-A30C-223B6E596F29}"/>
              </a:ext>
            </a:extLst>
          </p:cNvPr>
          <p:cNvSpPr>
            <a:spLocks noGrp="1"/>
          </p:cNvSpPr>
          <p:nvPr/>
        </p:nvSpPr>
        <p:spPr>
          <a:xfrm>
            <a:off x="2629471" y="2733675"/>
            <a:ext cx="53854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التكافؤ</a:t>
            </a:r>
          </a:p>
        </p:txBody>
      </p:sp>
      <p:sp>
        <p:nvSpPr>
          <p:cNvPr id="27" name="مستطيل 26">
            <a:extLst>
              <a:ext uri="{FF2B5EF4-FFF2-40B4-BE49-F238E27FC236}">
                <a16:creationId xmlns:a16="http://schemas.microsoft.com/office/drawing/2014/main" id="{8CFD9E4D-15D0-4C78-B6E9-6A99B08803D3}"/>
              </a:ext>
            </a:extLst>
          </p:cNvPr>
          <p:cNvSpPr>
            <a:spLocks noGrp="1"/>
          </p:cNvSpPr>
          <p:nvPr/>
        </p:nvSpPr>
        <p:spPr>
          <a:xfrm>
            <a:off x="1958816" y="2733675"/>
            <a:ext cx="60445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الحيوي</a:t>
            </a:r>
          </a:p>
        </p:txBody>
      </p:sp>
      <p:sp>
        <p:nvSpPr>
          <p:cNvPr id="28" name="مستطيل 27">
            <a:extLst>
              <a:ext uri="{FF2B5EF4-FFF2-40B4-BE49-F238E27FC236}">
                <a16:creationId xmlns:a16="http://schemas.microsoft.com/office/drawing/2014/main" id="{A5F2142F-253D-4F4F-BF2E-B50759329E2F}"/>
              </a:ext>
            </a:extLst>
          </p:cNvPr>
          <p:cNvSpPr>
            <a:spLocks noGrp="1"/>
          </p:cNvSpPr>
          <p:nvPr/>
        </p:nvSpPr>
        <p:spPr>
          <a:xfrm>
            <a:off x="10664571" y="3597593"/>
            <a:ext cx="603504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اتساق</a:t>
            </a:r>
          </a:p>
        </p:txBody>
      </p:sp>
      <p:sp>
        <p:nvSpPr>
          <p:cNvPr id="29" name="مستطيل 28">
            <a:extLst>
              <a:ext uri="{FF2B5EF4-FFF2-40B4-BE49-F238E27FC236}">
                <a16:creationId xmlns:a16="http://schemas.microsoft.com/office/drawing/2014/main" id="{C1449BE5-8FEB-4E84-AB08-225F49F1FED1}"/>
              </a:ext>
            </a:extLst>
          </p:cNvPr>
          <p:cNvSpPr>
            <a:spLocks noGrp="1"/>
          </p:cNvSpPr>
          <p:nvPr/>
        </p:nvSpPr>
        <p:spPr>
          <a:xfrm>
            <a:off x="9818465" y="3597593"/>
            <a:ext cx="769334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المقارنة</a:t>
            </a:r>
          </a:p>
        </p:txBody>
      </p:sp>
      <p:sp>
        <p:nvSpPr>
          <p:cNvPr id="30" name="مستطيل 29">
            <a:extLst>
              <a:ext uri="{FF2B5EF4-FFF2-40B4-BE49-F238E27FC236}">
                <a16:creationId xmlns:a16="http://schemas.microsoft.com/office/drawing/2014/main" id="{250871D2-E8F3-4EA9-9A5D-C94FFDF5F7BF}"/>
              </a:ext>
            </a:extLst>
          </p:cNvPr>
          <p:cNvSpPr>
            <a:spLocks noGrp="1"/>
          </p:cNvSpPr>
          <p:nvPr/>
        </p:nvSpPr>
        <p:spPr>
          <a:xfrm>
            <a:off x="6070378" y="3705225"/>
            <a:ext cx="49234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توحيد</a:t>
            </a:r>
          </a:p>
        </p:txBody>
      </p: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4A9EFB21-2A82-4A22-AA95-79A1889F22D8}"/>
              </a:ext>
            </a:extLst>
          </p:cNvPr>
          <p:cNvSpPr>
            <a:spLocks noGrp="1"/>
          </p:cNvSpPr>
          <p:nvPr/>
        </p:nvSpPr>
        <p:spPr>
          <a:xfrm>
            <a:off x="5649944" y="3705225"/>
            <a:ext cx="35423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فلتر</a:t>
            </a:r>
          </a:p>
        </p:txBody>
      </p:sp>
      <p:sp>
        <p:nvSpPr>
          <p:cNvPr id="32" name="مستطيل 31">
            <a:extLst>
              <a:ext uri="{FF2B5EF4-FFF2-40B4-BE49-F238E27FC236}">
                <a16:creationId xmlns:a16="http://schemas.microsoft.com/office/drawing/2014/main" id="{B4E5E603-F171-4295-806D-D2E37E61590A}"/>
              </a:ext>
            </a:extLst>
          </p:cNvPr>
          <p:cNvSpPr>
            <a:spLocks noGrp="1"/>
          </p:cNvSpPr>
          <p:nvPr/>
        </p:nvSpPr>
        <p:spPr>
          <a:xfrm>
            <a:off x="5091208" y="3705225"/>
            <a:ext cx="49253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أساس</a:t>
            </a:r>
          </a:p>
        </p:txBody>
      </p:sp>
      <p:sp>
        <p:nvSpPr>
          <p:cNvPr id="33" name="مستطيل 32">
            <a:extLst>
              <a:ext uri="{FF2B5EF4-FFF2-40B4-BE49-F238E27FC236}">
                <a16:creationId xmlns:a16="http://schemas.microsoft.com/office/drawing/2014/main" id="{67B158CA-3450-463C-9CCB-B26B751D4B28}"/>
              </a:ext>
            </a:extLst>
          </p:cNvPr>
          <p:cNvSpPr>
            <a:spLocks noGrp="1"/>
          </p:cNvSpPr>
          <p:nvPr/>
        </p:nvSpPr>
        <p:spPr>
          <a:xfrm>
            <a:off x="4406837" y="3705225"/>
            <a:ext cx="61817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التسعير</a:t>
            </a:r>
          </a:p>
        </p:txBody>
      </p:sp>
      <p:sp>
        <p:nvSpPr>
          <p:cNvPr id="34" name="مستطيل 33">
            <a:extLst>
              <a:ext uri="{FF2B5EF4-FFF2-40B4-BE49-F238E27FC236}">
                <a16:creationId xmlns:a16="http://schemas.microsoft.com/office/drawing/2014/main" id="{7CAA51B8-526C-4610-ABEA-6315A93F84B6}"/>
              </a:ext>
            </a:extLst>
          </p:cNvPr>
          <p:cNvSpPr>
            <a:spLocks noGrp="1"/>
          </p:cNvSpPr>
          <p:nvPr/>
        </p:nvSpPr>
        <p:spPr>
          <a:xfrm>
            <a:off x="4032504" y="3705225"/>
            <a:ext cx="30813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بين</a:t>
            </a:r>
          </a:p>
        </p:txBody>
      </p:sp>
      <p:sp>
        <p:nvSpPr>
          <p:cNvPr id="35" name="مستطيل 34">
            <a:extLst>
              <a:ext uri="{FF2B5EF4-FFF2-40B4-BE49-F238E27FC236}">
                <a16:creationId xmlns:a16="http://schemas.microsoft.com/office/drawing/2014/main" id="{DD50D04A-8AFF-4211-AAB9-1A5EC73CE9C6}"/>
              </a:ext>
            </a:extLst>
          </p:cNvPr>
          <p:cNvSpPr>
            <a:spLocks noGrp="1"/>
          </p:cNvSpPr>
          <p:nvPr/>
        </p:nvSpPr>
        <p:spPr>
          <a:xfrm>
            <a:off x="3388709" y="3705225"/>
            <a:ext cx="57759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التحليل</a:t>
            </a:r>
          </a:p>
        </p:txBody>
      </p:sp>
      <p:sp>
        <p:nvSpPr>
          <p:cNvPr id="36" name="مستطيل 35">
            <a:extLst>
              <a:ext uri="{FF2B5EF4-FFF2-40B4-BE49-F238E27FC236}">
                <a16:creationId xmlns:a16="http://schemas.microsoft.com/office/drawing/2014/main" id="{8D99598E-C121-4599-8613-6D344FE9812B}"/>
              </a:ext>
            </a:extLst>
          </p:cNvPr>
          <p:cNvSpPr>
            <a:spLocks noGrp="1"/>
          </p:cNvSpPr>
          <p:nvPr/>
        </p:nvSpPr>
        <p:spPr>
          <a:xfrm>
            <a:off x="2700147" y="3705225"/>
            <a:ext cx="62236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والبحث</a:t>
            </a:r>
          </a:p>
        </p:txBody>
      </p:sp>
      <p:sp>
        <p:nvSpPr>
          <p:cNvPr id="37" name="مستطيل 36">
            <a:extLst>
              <a:ext uri="{FF2B5EF4-FFF2-40B4-BE49-F238E27FC236}">
                <a16:creationId xmlns:a16="http://schemas.microsoft.com/office/drawing/2014/main" id="{FB0C6B06-B560-4392-A4EA-2BC7A8EACBBC}"/>
              </a:ext>
            </a:extLst>
          </p:cNvPr>
          <p:cNvSpPr>
            <a:spLocks noGrp="1"/>
          </p:cNvSpPr>
          <p:nvPr/>
        </p:nvSpPr>
        <p:spPr>
          <a:xfrm>
            <a:off x="2363438" y="3705225"/>
            <a:ext cx="27051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في</a:t>
            </a:r>
          </a:p>
        </p:txBody>
      </p:sp>
      <p:sp>
        <p:nvSpPr>
          <p:cNvPr id="38" name="مستطيل 37">
            <a:extLst>
              <a:ext uri="{FF2B5EF4-FFF2-40B4-BE49-F238E27FC236}">
                <a16:creationId xmlns:a16="http://schemas.microsoft.com/office/drawing/2014/main" id="{0B2B06FE-86EC-4952-969A-4ED2A15506D0}"/>
              </a:ext>
            </a:extLst>
          </p:cNvPr>
          <p:cNvSpPr>
            <a:spLocks noGrp="1"/>
          </p:cNvSpPr>
          <p:nvPr/>
        </p:nvSpPr>
        <p:spPr>
          <a:xfrm>
            <a:off x="1532001" y="3705225"/>
            <a:ext cx="76523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التطبيقات</a:t>
            </a:r>
          </a:p>
        </p:txBody>
      </p:sp>
      <p:sp>
        <p:nvSpPr>
          <p:cNvPr id="39" name="مستطيل 38">
            <a:extLst>
              <a:ext uri="{FF2B5EF4-FFF2-40B4-BE49-F238E27FC236}">
                <a16:creationId xmlns:a16="http://schemas.microsoft.com/office/drawing/2014/main" id="{06FA34B1-F308-4B4F-A0DD-C3D809170F62}"/>
              </a:ext>
            </a:extLst>
          </p:cNvPr>
          <p:cNvSpPr>
            <a:spLocks noGrp="1"/>
          </p:cNvSpPr>
          <p:nvPr/>
        </p:nvSpPr>
        <p:spPr>
          <a:xfrm>
            <a:off x="10662666" y="4569143"/>
            <a:ext cx="605409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تطوير</a:t>
            </a:r>
          </a:p>
        </p:txBody>
      </p:sp>
      <p:sp>
        <p:nvSpPr>
          <p:cNvPr id="40" name="مستطيل 39">
            <a:extLst>
              <a:ext uri="{FF2B5EF4-FFF2-40B4-BE49-F238E27FC236}">
                <a16:creationId xmlns:a16="http://schemas.microsoft.com/office/drawing/2014/main" id="{5CDE6CBD-1177-4AF7-9219-D3FF1D49F397}"/>
              </a:ext>
            </a:extLst>
          </p:cNvPr>
          <p:cNvSpPr>
            <a:spLocks noGrp="1"/>
          </p:cNvSpPr>
          <p:nvPr/>
        </p:nvSpPr>
        <p:spPr>
          <a:xfrm>
            <a:off x="10071163" y="4569143"/>
            <a:ext cx="514731" cy="386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لاحق</a:t>
            </a:r>
          </a:p>
        </p:txBody>
      </p:sp>
      <p:sp>
        <p:nvSpPr>
          <p:cNvPr id="41" name="مستطيل 40">
            <a:extLst>
              <a:ext uri="{FF2B5EF4-FFF2-40B4-BE49-F238E27FC236}">
                <a16:creationId xmlns:a16="http://schemas.microsoft.com/office/drawing/2014/main" id="{B0B47244-3426-4E09-8966-20A67017CE15}"/>
              </a:ext>
            </a:extLst>
          </p:cNvPr>
          <p:cNvSpPr>
            <a:spLocks noGrp="1"/>
          </p:cNvSpPr>
          <p:nvPr/>
        </p:nvSpPr>
        <p:spPr>
          <a:xfrm>
            <a:off x="6147340" y="4676775"/>
            <a:ext cx="41538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أتمتة</a:t>
            </a:r>
          </a:p>
        </p:txBody>
      </p:sp>
      <p:sp>
        <p:nvSpPr>
          <p:cNvPr id="42" name="مستطيل 41">
            <a:extLst>
              <a:ext uri="{FF2B5EF4-FFF2-40B4-BE49-F238E27FC236}">
                <a16:creationId xmlns:a16="http://schemas.microsoft.com/office/drawing/2014/main" id="{4E35D2B8-E23E-4D7A-BDAB-15747972FCFF}"/>
              </a:ext>
            </a:extLst>
          </p:cNvPr>
          <p:cNvSpPr>
            <a:spLocks noGrp="1"/>
          </p:cNvSpPr>
          <p:nvPr/>
        </p:nvSpPr>
        <p:spPr>
          <a:xfrm>
            <a:off x="5521833" y="4676775"/>
            <a:ext cx="55930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تحديث</a:t>
            </a:r>
          </a:p>
        </p:txBody>
      </p:sp>
      <p:sp>
        <p:nvSpPr>
          <p:cNvPr id="43" name="مستطيل 42">
            <a:extLst>
              <a:ext uri="{FF2B5EF4-FFF2-40B4-BE49-F238E27FC236}">
                <a16:creationId xmlns:a16="http://schemas.microsoft.com/office/drawing/2014/main" id="{4D471510-033A-49EF-9D05-E75F6412EFCE}"/>
              </a:ext>
            </a:extLst>
          </p:cNvPr>
          <p:cNvSpPr>
            <a:spLocks noGrp="1"/>
          </p:cNvSpPr>
          <p:nvPr/>
        </p:nvSpPr>
        <p:spPr>
          <a:xfrm>
            <a:off x="4836795" y="4676775"/>
            <a:ext cx="61883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44" name="مستطيل 43">
            <a:extLst>
              <a:ext uri="{FF2B5EF4-FFF2-40B4-BE49-F238E27FC236}">
                <a16:creationId xmlns:a16="http://schemas.microsoft.com/office/drawing/2014/main" id="{B52D12CB-F864-4806-B680-E12994C15011}"/>
              </a:ext>
            </a:extLst>
          </p:cNvPr>
          <p:cNvSpPr>
            <a:spLocks noGrp="1"/>
          </p:cNvSpPr>
          <p:nvPr/>
        </p:nvSpPr>
        <p:spPr>
          <a:xfrm>
            <a:off x="4142518" y="4676775"/>
            <a:ext cx="628078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وإضافة</a:t>
            </a:r>
          </a:p>
        </p:txBody>
      </p:sp>
      <p:sp>
        <p:nvSpPr>
          <p:cNvPr id="45" name="مستطيل 44">
            <a:extLst>
              <a:ext uri="{FF2B5EF4-FFF2-40B4-BE49-F238E27FC236}">
                <a16:creationId xmlns:a16="http://schemas.microsoft.com/office/drawing/2014/main" id="{B30E695D-6A13-44EC-8351-9F42CF1DE1F7}"/>
              </a:ext>
            </a:extLst>
          </p:cNvPr>
          <p:cNvSpPr>
            <a:spLocks noGrp="1"/>
          </p:cNvSpPr>
          <p:nvPr/>
        </p:nvSpPr>
        <p:spPr>
          <a:xfrm>
            <a:off x="3517582" y="4676775"/>
            <a:ext cx="55873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مصدر</a:t>
            </a:r>
          </a:p>
        </p:txBody>
      </p:sp>
      <p:sp>
        <p:nvSpPr>
          <p:cNvPr id="46" name="مستطيل 45">
            <a:extLst>
              <a:ext uri="{FF2B5EF4-FFF2-40B4-BE49-F238E27FC236}">
                <a16:creationId xmlns:a16="http://schemas.microsoft.com/office/drawing/2014/main" id="{FAB0730A-BED2-4E5E-953B-2AB631BFD077}"/>
              </a:ext>
            </a:extLst>
          </p:cNvPr>
          <p:cNvSpPr>
            <a:spLocks noGrp="1"/>
          </p:cNvSpPr>
          <p:nvPr/>
        </p:nvSpPr>
        <p:spPr>
          <a:xfrm>
            <a:off x="2888456" y="4676775"/>
            <a:ext cx="56292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موثوق</a:t>
            </a:r>
          </a:p>
        </p:txBody>
      </p:sp>
      <p:sp>
        <p:nvSpPr>
          <p:cNvPr id="47" name="مستطيل 46">
            <a:extLst>
              <a:ext uri="{FF2B5EF4-FFF2-40B4-BE49-F238E27FC236}">
                <a16:creationId xmlns:a16="http://schemas.microsoft.com/office/drawing/2014/main" id="{9AF08AE4-F2F2-4182-B646-F887250E3715}"/>
              </a:ext>
            </a:extLst>
          </p:cNvPr>
          <p:cNvSpPr>
            <a:spLocks noGrp="1"/>
          </p:cNvSpPr>
          <p:nvPr/>
        </p:nvSpPr>
        <p:spPr>
          <a:xfrm>
            <a:off x="2315813" y="4676775"/>
            <a:ext cx="50644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لتوافر</a:t>
            </a:r>
          </a:p>
        </p:txBody>
      </p:sp>
      <p:sp>
        <p:nvSpPr>
          <p:cNvPr id="48" name="مستطيل 47">
            <a:extLst>
              <a:ext uri="{FF2B5EF4-FFF2-40B4-BE49-F238E27FC236}">
                <a16:creationId xmlns:a16="http://schemas.microsoft.com/office/drawing/2014/main" id="{0D39512F-F79B-46A0-B056-1E487761512E}"/>
              </a:ext>
            </a:extLst>
          </p:cNvPr>
          <p:cNvSpPr>
            <a:spLocks noGrp="1"/>
          </p:cNvSpPr>
          <p:nvPr/>
        </p:nvSpPr>
        <p:spPr>
          <a:xfrm>
            <a:off x="1523524" y="4676775"/>
            <a:ext cx="726091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المنتجات</a:t>
            </a:r>
          </a:p>
        </p:txBody>
      </p:sp>
    </p:spTree>
    <p:extLst>
      <p:ext uri="{BB962C8B-B14F-4D97-AF65-F5344CB8AC3E}">
        <p14:creationId xmlns:p14="http://schemas.microsoft.com/office/powerpoint/2010/main" val="1838757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مستطيل 26">
            <a:extLst>
              <a:ext uri="{FF2B5EF4-FFF2-40B4-BE49-F238E27FC236}">
                <a16:creationId xmlns:a16="http://schemas.microsoft.com/office/drawing/2014/main" id="{0AA415B3-A6FF-407F-A0FD-052BE7784E7C}"/>
              </a:ext>
            </a:extLst>
          </p:cNvPr>
          <p:cNvSpPr>
            <a:spLocks noGrp="1"/>
          </p:cNvSpPr>
          <p:nvPr/>
        </p:nvSpPr>
        <p:spPr>
          <a:xfrm>
            <a:off x="10303669" y="535305"/>
            <a:ext cx="1231106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مخرجات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75AC2779-C042-4A93-916B-74F8ADCAFF59}"/>
              </a:ext>
            </a:extLst>
          </p:cNvPr>
          <p:cNvSpPr>
            <a:spLocks noGrp="1"/>
          </p:cNvSpPr>
          <p:nvPr/>
        </p:nvSpPr>
        <p:spPr>
          <a:xfrm>
            <a:off x="8905494" y="535305"/>
            <a:ext cx="1281779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المشروع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984752DE-C44C-4E71-B009-1324B342CE60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C53C8894-4720-4578-972E-C86AB5FA1E20}"/>
              </a:ext>
            </a:extLst>
          </p:cNvPr>
          <p:cNvSpPr>
            <a:spLocks noGrp="1"/>
          </p:cNvSpPr>
          <p:nvPr/>
        </p:nvSpPr>
        <p:spPr>
          <a:xfrm>
            <a:off x="10541889" y="1760220"/>
            <a:ext cx="821436" cy="5467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بيانات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794B7965-2C18-40F6-9580-72EDFD031333}"/>
              </a:ext>
            </a:extLst>
          </p:cNvPr>
          <p:cNvSpPr>
            <a:spLocks noGrp="1"/>
          </p:cNvSpPr>
          <p:nvPr/>
        </p:nvSpPr>
        <p:spPr>
          <a:xfrm>
            <a:off x="9570053" y="1760220"/>
            <a:ext cx="863346" cy="5467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منظمة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3B5C965B-D0FB-400E-BD63-24224A59F6F0}"/>
              </a:ext>
            </a:extLst>
          </p:cNvPr>
          <p:cNvSpPr>
            <a:spLocks noGrp="1"/>
          </p:cNvSpPr>
          <p:nvPr/>
        </p:nvSpPr>
        <p:spPr>
          <a:xfrm>
            <a:off x="8824722" y="1760220"/>
            <a:ext cx="636842" cy="5467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قابلة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32CA8FFC-38EB-4A28-B3A9-1B128B4A5F59}"/>
              </a:ext>
            </a:extLst>
          </p:cNvPr>
          <p:cNvSpPr>
            <a:spLocks noGrp="1"/>
          </p:cNvSpPr>
          <p:nvPr/>
        </p:nvSpPr>
        <p:spPr>
          <a:xfrm>
            <a:off x="7965376" y="1760220"/>
            <a:ext cx="750856" cy="5467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للتتبع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DBD9B9CE-983E-48A3-BB97-CA608B53E0C0}"/>
              </a:ext>
            </a:extLst>
          </p:cNvPr>
          <p:cNvSpPr>
            <a:spLocks noGrp="1"/>
          </p:cNvSpPr>
          <p:nvPr/>
        </p:nvSpPr>
        <p:spPr>
          <a:xfrm>
            <a:off x="6514909" y="1760220"/>
            <a:ext cx="1341977" cy="5467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defPPr>
            <a:lvl1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1pPr>
            <a:lvl2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2pPr>
            <a:lvl3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3pPr>
            <a:lvl4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4pPr>
            <a:lvl5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5pPr>
            <a:lvl6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6pPr>
            <a:lvl7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7pPr>
            <a:lvl8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8pPr>
            <a:lvl9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075" b="1">
                <a:solidFill>
                  <a:srgbClr val="522D6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522D60"/>
                </a:solidFill>
                <a:latin typeface="Arial"/>
                <a:ea typeface="Arial"/>
                <a:cs typeface="Arial"/>
              </a:rPr>
              <a:t>والمراجعة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D5024C5D-D7E0-4285-B01E-DD9EA43317AE}"/>
              </a:ext>
            </a:extLst>
          </p:cNvPr>
          <p:cNvSpPr>
            <a:spLocks noGrp="1"/>
          </p:cNvSpPr>
          <p:nvPr/>
        </p:nvSpPr>
        <p:spPr>
          <a:xfrm>
            <a:off x="10733437" y="2717483"/>
            <a:ext cx="629888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قاعدة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DD69277F-5B89-43F6-A173-01D25E4B33E0}"/>
              </a:ext>
            </a:extLst>
          </p:cNvPr>
          <p:cNvSpPr>
            <a:spLocks noGrp="1"/>
          </p:cNvSpPr>
          <p:nvPr/>
        </p:nvSpPr>
        <p:spPr>
          <a:xfrm>
            <a:off x="9702355" y="2717483"/>
            <a:ext cx="935831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مترابطة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282A1161-943D-4C71-A409-4C0B47A5762E}"/>
              </a:ext>
            </a:extLst>
          </p:cNvPr>
          <p:cNvSpPr>
            <a:spLocks noGrp="1"/>
          </p:cNvSpPr>
          <p:nvPr/>
        </p:nvSpPr>
        <p:spPr>
          <a:xfrm>
            <a:off x="8256080" y="2717483"/>
            <a:ext cx="1351026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واستعلامات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9EEAB36E-E4F8-49BD-83FF-32D71D8CB7C2}"/>
              </a:ext>
            </a:extLst>
          </p:cNvPr>
          <p:cNvSpPr>
            <a:spLocks noGrp="1"/>
          </p:cNvSpPr>
          <p:nvPr/>
        </p:nvSpPr>
        <p:spPr>
          <a:xfrm>
            <a:off x="7539323" y="2717483"/>
            <a:ext cx="621506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تحقق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EB4036E8-ABE0-4847-AE58-17A5C14BCBAD}"/>
              </a:ext>
            </a:extLst>
          </p:cNvPr>
          <p:cNvSpPr>
            <a:spLocks noGrp="1"/>
          </p:cNvSpPr>
          <p:nvPr/>
        </p:nvSpPr>
        <p:spPr>
          <a:xfrm>
            <a:off x="10702957" y="3689033"/>
            <a:ext cx="660368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تحليل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A5E751F6-5E86-4F00-A38A-36144239ED6F}"/>
              </a:ext>
            </a:extLst>
          </p:cNvPr>
          <p:cNvSpPr>
            <a:spLocks noGrp="1"/>
          </p:cNvSpPr>
          <p:nvPr/>
        </p:nvSpPr>
        <p:spPr>
          <a:xfrm>
            <a:off x="10013251" y="3689033"/>
            <a:ext cx="594455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بدائل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9D14014F-4585-4710-A860-B5EBD5E5B35E}"/>
              </a:ext>
            </a:extLst>
          </p:cNvPr>
          <p:cNvSpPr>
            <a:spLocks noGrp="1"/>
          </p:cNvSpPr>
          <p:nvPr/>
        </p:nvSpPr>
        <p:spPr>
          <a:xfrm>
            <a:off x="9148953" y="3689033"/>
            <a:ext cx="769048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يوضح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ECF364C8-9A84-4231-88EB-0AC87ED60E76}"/>
              </a:ext>
            </a:extLst>
          </p:cNvPr>
          <p:cNvSpPr>
            <a:spLocks noGrp="1"/>
          </p:cNvSpPr>
          <p:nvPr/>
        </p:nvSpPr>
        <p:spPr>
          <a:xfrm>
            <a:off x="8174355" y="3689033"/>
            <a:ext cx="879348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اختلاف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77FAAEE3-8D60-48BB-9074-56363AD4882B}"/>
              </a:ext>
            </a:extLst>
          </p:cNvPr>
          <p:cNvSpPr>
            <a:spLocks noGrp="1"/>
          </p:cNvSpPr>
          <p:nvPr/>
        </p:nvSpPr>
        <p:spPr>
          <a:xfrm>
            <a:off x="7191470" y="3689033"/>
            <a:ext cx="887635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الأسعار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8ED3ADE7-B476-4691-8C18-DE5E5145049C}"/>
              </a:ext>
            </a:extLst>
          </p:cNvPr>
          <p:cNvSpPr>
            <a:spLocks noGrp="1"/>
          </p:cNvSpPr>
          <p:nvPr/>
        </p:nvSpPr>
        <p:spPr>
          <a:xfrm>
            <a:off x="6245447" y="3689033"/>
            <a:ext cx="850773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وفرص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AF96AB88-AEB4-4D44-B7E8-6ABEA7A041F2}"/>
              </a:ext>
            </a:extLst>
          </p:cNvPr>
          <p:cNvSpPr>
            <a:spLocks noGrp="1"/>
          </p:cNvSpPr>
          <p:nvPr/>
        </p:nvSpPr>
        <p:spPr>
          <a:xfrm>
            <a:off x="5366576" y="3689033"/>
            <a:ext cx="783622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التوفير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13834B5A-F60F-4343-949B-B7E599CF8CAF}"/>
              </a:ext>
            </a:extLst>
          </p:cNvPr>
          <p:cNvSpPr>
            <a:spLocks noGrp="1"/>
          </p:cNvSpPr>
          <p:nvPr/>
        </p:nvSpPr>
        <p:spPr>
          <a:xfrm>
            <a:off x="10432733" y="4684395"/>
            <a:ext cx="930592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تطبيقات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F54F9A71-7319-4B4C-A485-D3BA2907021F}"/>
              </a:ext>
            </a:extLst>
          </p:cNvPr>
          <p:cNvSpPr>
            <a:spLocks noGrp="1"/>
          </p:cNvSpPr>
          <p:nvPr/>
        </p:nvSpPr>
        <p:spPr>
          <a:xfrm>
            <a:off x="9554718" y="4684395"/>
            <a:ext cx="782765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تفاعلية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47F2611A-24B2-433F-8AB6-6ADEAA75BB35}"/>
              </a:ext>
            </a:extLst>
          </p:cNvPr>
          <p:cNvSpPr>
            <a:spLocks noGrp="1"/>
          </p:cNvSpPr>
          <p:nvPr/>
        </p:nvSpPr>
        <p:spPr>
          <a:xfrm>
            <a:off x="8573262" y="4684395"/>
            <a:ext cx="886206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وتقارير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A190C22F-2C6F-4E9D-A139-FC17155E1204}"/>
              </a:ext>
            </a:extLst>
          </p:cNvPr>
          <p:cNvSpPr>
            <a:spLocks noGrp="1"/>
          </p:cNvSpPr>
          <p:nvPr/>
        </p:nvSpPr>
        <p:spPr>
          <a:xfrm>
            <a:off x="7851267" y="4684395"/>
            <a:ext cx="626745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لتقديم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855526EB-5425-4015-8FD8-EFB69665E8A3}"/>
              </a:ext>
            </a:extLst>
          </p:cNvPr>
          <p:cNvSpPr>
            <a:spLocks noGrp="1"/>
          </p:cNvSpPr>
          <p:nvPr/>
        </p:nvSpPr>
        <p:spPr>
          <a:xfrm>
            <a:off x="7037165" y="4684395"/>
            <a:ext cx="718852" cy="4800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70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النتائج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DF2F0798-1E1F-4F94-8927-0C1F2F995AD2}"/>
              </a:ext>
            </a:extLst>
          </p:cNvPr>
          <p:cNvSpPr>
            <a:spLocks noGrp="1"/>
          </p:cNvSpPr>
          <p:nvPr/>
        </p:nvSpPr>
        <p:spPr>
          <a:xfrm>
            <a:off x="10641902" y="5609273"/>
            <a:ext cx="721423" cy="3733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المناقشة</a:t>
            </a:r>
          </a:p>
        </p:txBody>
      </p:sp>
      <p:sp>
        <p:nvSpPr>
          <p:cNvPr id="26" name="مستطيل 25">
            <a:extLst>
              <a:ext uri="{FF2B5EF4-FFF2-40B4-BE49-F238E27FC236}">
                <a16:creationId xmlns:a16="http://schemas.microsoft.com/office/drawing/2014/main" id="{88E43BC7-71FF-496B-BCB2-388E1FC39279}"/>
              </a:ext>
            </a:extLst>
          </p:cNvPr>
          <p:cNvSpPr>
            <a:spLocks noGrp="1"/>
          </p:cNvSpPr>
          <p:nvPr/>
        </p:nvSpPr>
        <p:spPr>
          <a:xfrm>
            <a:off x="9823704" y="5609273"/>
            <a:ext cx="744093" cy="3733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والأسئلة</a:t>
            </a:r>
          </a:p>
        </p:txBody>
      </p:sp>
    </p:spTree>
    <p:extLst>
      <p:ext uri="{BB962C8B-B14F-4D97-AF65-F5344CB8AC3E}">
        <p14:creationId xmlns:p14="http://schemas.microsoft.com/office/powerpoint/2010/main" val="585248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مستطيل 42">
            <a:extLst>
              <a:ext uri="{FF2B5EF4-FFF2-40B4-BE49-F238E27FC236}">
                <a16:creationId xmlns:a16="http://schemas.microsoft.com/office/drawing/2014/main" id="{D11CFADC-8B94-4C11-BA47-0037AD8F8A3B}"/>
              </a:ext>
            </a:extLst>
          </p:cNvPr>
          <p:cNvSpPr>
            <a:spLocks noGrp="1"/>
          </p:cNvSpPr>
          <p:nvPr/>
        </p:nvSpPr>
        <p:spPr>
          <a:xfrm>
            <a:off x="10580370" y="535305"/>
            <a:ext cx="954405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ملحق: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AC449620-E60A-4C96-83C5-ACEB6E317379}"/>
              </a:ext>
            </a:extLst>
          </p:cNvPr>
          <p:cNvSpPr>
            <a:spLocks noGrp="1"/>
          </p:cNvSpPr>
          <p:nvPr/>
        </p:nvSpPr>
        <p:spPr>
          <a:xfrm>
            <a:off x="9618821" y="535305"/>
            <a:ext cx="845153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ملفات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0EB272EB-3B34-4035-8557-1CAF2FC0863F}"/>
              </a:ext>
            </a:extLst>
          </p:cNvPr>
          <p:cNvSpPr>
            <a:spLocks noGrp="1"/>
          </p:cNvSpPr>
          <p:nvPr/>
        </p:nvSpPr>
        <p:spPr>
          <a:xfrm>
            <a:off x="8739949" y="535305"/>
            <a:ext cx="762476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إعداد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77422063-83C0-493B-AF47-3EA3797A6DF9}"/>
              </a:ext>
            </a:extLst>
          </p:cNvPr>
          <p:cNvSpPr>
            <a:spLocks noGrp="1"/>
          </p:cNvSpPr>
          <p:nvPr/>
        </p:nvSpPr>
        <p:spPr>
          <a:xfrm>
            <a:off x="7557802" y="535305"/>
            <a:ext cx="1065752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B83FA399-2111-4806-971E-065E9D7806F4}"/>
              </a:ext>
            </a:extLst>
          </p:cNvPr>
          <p:cNvSpPr>
            <a:spLocks noGrp="1"/>
          </p:cNvSpPr>
          <p:nvPr/>
        </p:nvSpPr>
        <p:spPr>
          <a:xfrm>
            <a:off x="6262306" y="535305"/>
            <a:ext cx="1179100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والتحليل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9EFD04A2-4C2D-44A8-966B-33E81E3939B2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7" name="جدول 6">
            <a:extLst>
              <a:ext uri="{FF2B5EF4-FFF2-40B4-BE49-F238E27FC236}">
                <a16:creationId xmlns:a16="http://schemas.microsoft.com/office/drawing/2014/main" id="{C469A14E-775C-46C7-A5B4-EDDC9C902B8D}"/>
              </a:ext>
            </a:extLst>
          </p:cNvPr>
          <p:cNvGraphicFramePr/>
          <p:nvPr/>
        </p:nvGraphicFramePr>
        <p:xfrm>
          <a:off x="762000" y="1685925"/>
          <a:ext cx="10668000" cy="3895728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522D6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522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مستطيل 7">
            <a:extLst>
              <a:ext uri="{FF2B5EF4-FFF2-40B4-BE49-F238E27FC236}">
                <a16:creationId xmlns:a16="http://schemas.microsoft.com/office/drawing/2014/main" id="{32F42D56-1BEE-4C32-9304-F5C25C6F836C}"/>
              </a:ext>
            </a:extLst>
          </p:cNvPr>
          <p:cNvSpPr>
            <a:spLocks noGrp="1"/>
          </p:cNvSpPr>
          <p:nvPr/>
        </p:nvSpPr>
        <p:spPr>
          <a:xfrm>
            <a:off x="4321778" y="1850549"/>
            <a:ext cx="450247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الدور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CB3F609D-9E8D-4FAB-B226-FDE0504EEC63}"/>
              </a:ext>
            </a:extLst>
          </p:cNvPr>
          <p:cNvSpPr>
            <a:spLocks noGrp="1"/>
          </p:cNvSpPr>
          <p:nvPr/>
        </p:nvSpPr>
        <p:spPr>
          <a:xfrm>
            <a:off x="10749820" y="1850549"/>
            <a:ext cx="594455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الملفات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905CA279-621E-48A2-9E24-8932BA076B6A}"/>
              </a:ext>
            </a:extLst>
          </p:cNvPr>
          <p:cNvSpPr>
            <a:spLocks noGrp="1"/>
          </p:cNvSpPr>
          <p:nvPr/>
        </p:nvSpPr>
        <p:spPr>
          <a:xfrm>
            <a:off x="4185571" y="2513171"/>
            <a:ext cx="586454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المصدر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05FE68DF-2411-45E4-BB71-334178CB5AD7}"/>
              </a:ext>
            </a:extLst>
          </p:cNvPr>
          <p:cNvSpPr>
            <a:spLocks noGrp="1"/>
          </p:cNvSpPr>
          <p:nvPr/>
        </p:nvSpPr>
        <p:spPr>
          <a:xfrm>
            <a:off x="3531394" y="2513171"/>
            <a:ext cx="595979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والنسخة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AD8E6DEA-278A-4708-AF6A-B672CDB8A118}"/>
              </a:ext>
            </a:extLst>
          </p:cNvPr>
          <p:cNvSpPr>
            <a:spLocks noGrp="1"/>
          </p:cNvSpPr>
          <p:nvPr/>
        </p:nvSpPr>
        <p:spPr>
          <a:xfrm>
            <a:off x="2930557" y="2513171"/>
            <a:ext cx="542639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المنظفة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961F1E2C-01BF-4538-A8BA-B19953EED21D}"/>
              </a:ext>
            </a:extLst>
          </p:cNvPr>
          <p:cNvSpPr>
            <a:spLocks noGrp="1"/>
          </p:cNvSpPr>
          <p:nvPr/>
        </p:nvSpPr>
        <p:spPr>
          <a:xfrm>
            <a:off x="10473881" y="2513171"/>
            <a:ext cx="870394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data/raw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36ACCF13-F28E-4742-BA03-44E39E07456C}"/>
              </a:ext>
            </a:extLst>
          </p:cNvPr>
          <p:cNvSpPr>
            <a:spLocks noGrp="1"/>
          </p:cNvSpPr>
          <p:nvPr/>
        </p:nvSpPr>
        <p:spPr>
          <a:xfrm>
            <a:off x="10290810" y="2513171"/>
            <a:ext cx="124873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3E784DC5-9046-4BFD-AF14-BBEC87D28644}"/>
              </a:ext>
            </a:extLst>
          </p:cNvPr>
          <p:cNvSpPr>
            <a:spLocks noGrp="1"/>
          </p:cNvSpPr>
          <p:nvPr/>
        </p:nvSpPr>
        <p:spPr>
          <a:xfrm>
            <a:off x="10075355" y="2513171"/>
            <a:ext cx="15725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7EB2F585-DCB4-441E-843E-0EA118880344}"/>
              </a:ext>
            </a:extLst>
          </p:cNvPr>
          <p:cNvSpPr>
            <a:spLocks noGrp="1"/>
          </p:cNvSpPr>
          <p:nvPr/>
        </p:nvSpPr>
        <p:spPr>
          <a:xfrm>
            <a:off x="8750332" y="2513171"/>
            <a:ext cx="1266825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data/cleaned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0F57B5B5-C2DD-4C99-91C5-5213FEB1C11C}"/>
              </a:ext>
            </a:extLst>
          </p:cNvPr>
          <p:cNvSpPr>
            <a:spLocks noGrp="1"/>
          </p:cNvSpPr>
          <p:nvPr/>
        </p:nvSpPr>
        <p:spPr>
          <a:xfrm>
            <a:off x="8567261" y="2513171"/>
            <a:ext cx="124873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0A0AAFA7-F7DE-43A6-9BBF-6D75E7A9DBE3}"/>
              </a:ext>
            </a:extLst>
          </p:cNvPr>
          <p:cNvSpPr>
            <a:spLocks noGrp="1"/>
          </p:cNvSpPr>
          <p:nvPr/>
        </p:nvSpPr>
        <p:spPr>
          <a:xfrm>
            <a:off x="4222432" y="3162459"/>
            <a:ext cx="549593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الفحص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15B9E88C-A23B-4BB8-8D4D-8C319C30831E}"/>
              </a:ext>
            </a:extLst>
          </p:cNvPr>
          <p:cNvSpPr>
            <a:spLocks noGrp="1"/>
          </p:cNvSpPr>
          <p:nvPr/>
        </p:nvSpPr>
        <p:spPr>
          <a:xfrm>
            <a:off x="3479673" y="3162459"/>
            <a:ext cx="684562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والتنظيف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79D23C90-559A-4DF8-9EC7-FA882322170D}"/>
              </a:ext>
            </a:extLst>
          </p:cNvPr>
          <p:cNvSpPr>
            <a:spLocks noGrp="1"/>
          </p:cNvSpPr>
          <p:nvPr/>
        </p:nvSpPr>
        <p:spPr>
          <a:xfrm>
            <a:off x="9669780" y="3162459"/>
            <a:ext cx="1674495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01_data_profiling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E6C04EA8-A295-4100-A1FB-2846651794BE}"/>
              </a:ext>
            </a:extLst>
          </p:cNvPr>
          <p:cNvSpPr>
            <a:spLocks noGrp="1"/>
          </p:cNvSpPr>
          <p:nvPr/>
        </p:nvSpPr>
        <p:spPr>
          <a:xfrm>
            <a:off x="9454324" y="3162459"/>
            <a:ext cx="15725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7874FA43-B20B-4B8A-89F8-2F3107155521}"/>
              </a:ext>
            </a:extLst>
          </p:cNvPr>
          <p:cNvSpPr>
            <a:spLocks noGrp="1"/>
          </p:cNvSpPr>
          <p:nvPr/>
        </p:nvSpPr>
        <p:spPr>
          <a:xfrm>
            <a:off x="7674864" y="3162459"/>
            <a:ext cx="1721263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02_data_cleaning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44F5B789-7864-4003-B2D2-BA273CFB8D9C}"/>
              </a:ext>
            </a:extLst>
          </p:cNvPr>
          <p:cNvSpPr>
            <a:spLocks noGrp="1"/>
          </p:cNvSpPr>
          <p:nvPr/>
        </p:nvSpPr>
        <p:spPr>
          <a:xfrm>
            <a:off x="4156520" y="3811746"/>
            <a:ext cx="615505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العلاقات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9435C393-85E4-4194-8B1A-EAEE091E0AFB}"/>
              </a:ext>
            </a:extLst>
          </p:cNvPr>
          <p:cNvSpPr>
            <a:spLocks noGrp="1"/>
          </p:cNvSpPr>
          <p:nvPr/>
        </p:nvSpPr>
        <p:spPr>
          <a:xfrm>
            <a:off x="3634169" y="3811746"/>
            <a:ext cx="464153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وتوليد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3BB163F3-9182-4887-A13F-259A75C89D10}"/>
              </a:ext>
            </a:extLst>
          </p:cNvPr>
          <p:cNvSpPr>
            <a:spLocks noGrp="1"/>
          </p:cNvSpPr>
          <p:nvPr/>
        </p:nvSpPr>
        <p:spPr>
          <a:xfrm>
            <a:off x="2901315" y="3811746"/>
            <a:ext cx="674656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المعرّفات</a:t>
            </a:r>
          </a:p>
        </p:txBody>
      </p:sp>
      <p:sp>
        <p:nvSpPr>
          <p:cNvPr id="26" name="مستطيل 25">
            <a:extLst>
              <a:ext uri="{FF2B5EF4-FFF2-40B4-BE49-F238E27FC236}">
                <a16:creationId xmlns:a16="http://schemas.microsoft.com/office/drawing/2014/main" id="{06BC98CA-426B-458E-A858-F3ACAAC6D9F1}"/>
              </a:ext>
            </a:extLst>
          </p:cNvPr>
          <p:cNvSpPr>
            <a:spLocks noGrp="1"/>
          </p:cNvSpPr>
          <p:nvPr/>
        </p:nvSpPr>
        <p:spPr>
          <a:xfrm>
            <a:off x="9424988" y="3811746"/>
            <a:ext cx="191928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03_data_integration</a:t>
            </a:r>
          </a:p>
        </p:txBody>
      </p:sp>
      <p:sp>
        <p:nvSpPr>
          <p:cNvPr id="27" name="مستطيل 26">
            <a:extLst>
              <a:ext uri="{FF2B5EF4-FFF2-40B4-BE49-F238E27FC236}">
                <a16:creationId xmlns:a16="http://schemas.microsoft.com/office/drawing/2014/main" id="{1FD106AB-D3E7-4111-ACCA-52A6C6280DEF}"/>
              </a:ext>
            </a:extLst>
          </p:cNvPr>
          <p:cNvSpPr>
            <a:spLocks noGrp="1"/>
          </p:cNvSpPr>
          <p:nvPr/>
        </p:nvSpPr>
        <p:spPr>
          <a:xfrm>
            <a:off x="9209532" y="3811746"/>
            <a:ext cx="15725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</a:t>
            </a:r>
          </a:p>
        </p:txBody>
      </p:sp>
      <p:sp>
        <p:nvSpPr>
          <p:cNvPr id="28" name="مستطيل 27">
            <a:extLst>
              <a:ext uri="{FF2B5EF4-FFF2-40B4-BE49-F238E27FC236}">
                <a16:creationId xmlns:a16="http://schemas.microsoft.com/office/drawing/2014/main" id="{A10A65B2-087F-4A11-A564-89D286B7A194}"/>
              </a:ext>
            </a:extLst>
          </p:cNvPr>
          <p:cNvSpPr>
            <a:spLocks noGrp="1"/>
          </p:cNvSpPr>
          <p:nvPr/>
        </p:nvSpPr>
        <p:spPr>
          <a:xfrm>
            <a:off x="6882670" y="3811746"/>
            <a:ext cx="2268664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04_generate_mappings</a:t>
            </a:r>
          </a:p>
        </p:txBody>
      </p:sp>
      <p:sp>
        <p:nvSpPr>
          <p:cNvPr id="29" name="مستطيل 28">
            <a:extLst>
              <a:ext uri="{FF2B5EF4-FFF2-40B4-BE49-F238E27FC236}">
                <a16:creationId xmlns:a16="http://schemas.microsoft.com/office/drawing/2014/main" id="{20F559E8-01F5-44BE-95E2-97A30C349A31}"/>
              </a:ext>
            </a:extLst>
          </p:cNvPr>
          <p:cNvSpPr>
            <a:spLocks noGrp="1"/>
          </p:cNvSpPr>
          <p:nvPr/>
        </p:nvSpPr>
        <p:spPr>
          <a:xfrm>
            <a:off x="4307015" y="4461034"/>
            <a:ext cx="46501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تجهيز</a:t>
            </a:r>
          </a:p>
        </p:txBody>
      </p:sp>
      <p:sp>
        <p:nvSpPr>
          <p:cNvPr id="30" name="مستطيل 29">
            <a:extLst>
              <a:ext uri="{FF2B5EF4-FFF2-40B4-BE49-F238E27FC236}">
                <a16:creationId xmlns:a16="http://schemas.microsoft.com/office/drawing/2014/main" id="{9A9A5EE4-201F-4C91-905A-1A523095E453}"/>
              </a:ext>
            </a:extLst>
          </p:cNvPr>
          <p:cNvSpPr>
            <a:spLocks noGrp="1"/>
          </p:cNvSpPr>
          <p:nvPr/>
        </p:nvSpPr>
        <p:spPr>
          <a:xfrm>
            <a:off x="3693319" y="4461034"/>
            <a:ext cx="55549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التحميل</a:t>
            </a:r>
          </a:p>
        </p:txBody>
      </p:sp>
      <p:sp>
        <p:nvSpPr>
          <p:cNvPr id="31" name="مستطيل 30">
            <a:extLst>
              <a:ext uri="{FF2B5EF4-FFF2-40B4-BE49-F238E27FC236}">
                <a16:creationId xmlns:a16="http://schemas.microsoft.com/office/drawing/2014/main" id="{15D87C7E-A63A-493B-9A14-83CC111AEA00}"/>
              </a:ext>
            </a:extLst>
          </p:cNvPr>
          <p:cNvSpPr>
            <a:spLocks noGrp="1"/>
          </p:cNvSpPr>
          <p:nvPr/>
        </p:nvSpPr>
        <p:spPr>
          <a:xfrm>
            <a:off x="3028283" y="4461034"/>
            <a:ext cx="60683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والتحليل</a:t>
            </a:r>
          </a:p>
        </p:txBody>
      </p:sp>
      <p:sp>
        <p:nvSpPr>
          <p:cNvPr id="32" name="مستطيل 31">
            <a:extLst>
              <a:ext uri="{FF2B5EF4-FFF2-40B4-BE49-F238E27FC236}">
                <a16:creationId xmlns:a16="http://schemas.microsoft.com/office/drawing/2014/main" id="{B9FB71A7-766C-4B2A-BF22-EBD27D5D1756}"/>
              </a:ext>
            </a:extLst>
          </p:cNvPr>
          <p:cNvSpPr>
            <a:spLocks noGrp="1"/>
          </p:cNvSpPr>
          <p:nvPr/>
        </p:nvSpPr>
        <p:spPr>
          <a:xfrm>
            <a:off x="9087326" y="4314349"/>
            <a:ext cx="2256949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05_generate_insert_sql</a:t>
            </a:r>
          </a:p>
        </p:txBody>
      </p:sp>
      <p:sp>
        <p:nvSpPr>
          <p:cNvPr id="33" name="مستطيل 32">
            <a:extLst>
              <a:ext uri="{FF2B5EF4-FFF2-40B4-BE49-F238E27FC236}">
                <a16:creationId xmlns:a16="http://schemas.microsoft.com/office/drawing/2014/main" id="{454FE5B2-15CB-42E6-9FA1-7128129C82D6}"/>
              </a:ext>
            </a:extLst>
          </p:cNvPr>
          <p:cNvSpPr>
            <a:spLocks noGrp="1"/>
          </p:cNvSpPr>
          <p:nvPr/>
        </p:nvSpPr>
        <p:spPr>
          <a:xfrm>
            <a:off x="8871871" y="4314349"/>
            <a:ext cx="15725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</a:t>
            </a:r>
          </a:p>
        </p:txBody>
      </p:sp>
      <p:sp>
        <p:nvSpPr>
          <p:cNvPr id="34" name="مستطيل 33">
            <a:extLst>
              <a:ext uri="{FF2B5EF4-FFF2-40B4-BE49-F238E27FC236}">
                <a16:creationId xmlns:a16="http://schemas.microsoft.com/office/drawing/2014/main" id="{D46A23F6-403B-42F7-A1A6-77F569D1A90F}"/>
              </a:ext>
            </a:extLst>
          </p:cNvPr>
          <p:cNvSpPr>
            <a:spLocks noGrp="1"/>
          </p:cNvSpPr>
          <p:nvPr/>
        </p:nvSpPr>
        <p:spPr>
          <a:xfrm>
            <a:off x="8047768" y="4314349"/>
            <a:ext cx="765905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06_eda</a:t>
            </a:r>
          </a:p>
        </p:txBody>
      </p:sp>
      <p:sp>
        <p:nvSpPr>
          <p:cNvPr id="35" name="مستطيل 34">
            <a:extLst>
              <a:ext uri="{FF2B5EF4-FFF2-40B4-BE49-F238E27FC236}">
                <a16:creationId xmlns:a16="http://schemas.microsoft.com/office/drawing/2014/main" id="{8A046840-B3E4-4667-9689-AAEC3DB8D248}"/>
              </a:ext>
            </a:extLst>
          </p:cNvPr>
          <p:cNvSpPr>
            <a:spLocks noGrp="1"/>
          </p:cNvSpPr>
          <p:nvPr/>
        </p:nvSpPr>
        <p:spPr>
          <a:xfrm>
            <a:off x="7832312" y="4314349"/>
            <a:ext cx="15725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</a:t>
            </a:r>
          </a:p>
        </p:txBody>
      </p:sp>
      <p:sp>
        <p:nvSpPr>
          <p:cNvPr id="36" name="مستطيل 35">
            <a:extLst>
              <a:ext uri="{FF2B5EF4-FFF2-40B4-BE49-F238E27FC236}">
                <a16:creationId xmlns:a16="http://schemas.microsoft.com/office/drawing/2014/main" id="{CE6A398C-1094-4F88-8BA5-2EE54449ED5C}"/>
              </a:ext>
            </a:extLst>
          </p:cNvPr>
          <p:cNvSpPr>
            <a:spLocks noGrp="1"/>
          </p:cNvSpPr>
          <p:nvPr/>
        </p:nvSpPr>
        <p:spPr>
          <a:xfrm>
            <a:off x="8412004" y="4607719"/>
            <a:ext cx="2932271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07_alternatives_price_analysis</a:t>
            </a:r>
          </a:p>
        </p:txBody>
      </p:sp>
      <p:sp>
        <p:nvSpPr>
          <p:cNvPr id="37" name="مستطيل 36">
            <a:extLst>
              <a:ext uri="{FF2B5EF4-FFF2-40B4-BE49-F238E27FC236}">
                <a16:creationId xmlns:a16="http://schemas.microsoft.com/office/drawing/2014/main" id="{1786373B-88FD-4C79-924A-61AA8BB939A6}"/>
              </a:ext>
            </a:extLst>
          </p:cNvPr>
          <p:cNvSpPr>
            <a:spLocks noGrp="1"/>
          </p:cNvSpPr>
          <p:nvPr/>
        </p:nvSpPr>
        <p:spPr>
          <a:xfrm>
            <a:off x="4275392" y="5110321"/>
            <a:ext cx="496633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القاعدة</a:t>
            </a:r>
          </a:p>
        </p:txBody>
      </p:sp>
      <p:sp>
        <p:nvSpPr>
          <p:cNvPr id="38" name="مستطيل 37">
            <a:extLst>
              <a:ext uri="{FF2B5EF4-FFF2-40B4-BE49-F238E27FC236}">
                <a16:creationId xmlns:a16="http://schemas.microsoft.com/office/drawing/2014/main" id="{E85275E5-7714-4F47-8467-00EBDBE6A4AC}"/>
              </a:ext>
            </a:extLst>
          </p:cNvPr>
          <p:cNvSpPr>
            <a:spLocks noGrp="1"/>
          </p:cNvSpPr>
          <p:nvPr/>
        </p:nvSpPr>
        <p:spPr>
          <a:xfrm>
            <a:off x="3661410" y="5110321"/>
            <a:ext cx="555784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والنتائج</a:t>
            </a:r>
          </a:p>
        </p:txBody>
      </p:sp>
      <p:sp>
        <p:nvSpPr>
          <p:cNvPr id="39" name="مستطيل 38">
            <a:extLst>
              <a:ext uri="{FF2B5EF4-FFF2-40B4-BE49-F238E27FC236}">
                <a16:creationId xmlns:a16="http://schemas.microsoft.com/office/drawing/2014/main" id="{0BA7B174-F601-459D-8233-A8D72932B4D7}"/>
              </a:ext>
            </a:extLst>
          </p:cNvPr>
          <p:cNvSpPr>
            <a:spLocks noGrp="1"/>
          </p:cNvSpPr>
          <p:nvPr/>
        </p:nvSpPr>
        <p:spPr>
          <a:xfrm>
            <a:off x="9681591" y="5110321"/>
            <a:ext cx="1662684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data/medicine.db</a:t>
            </a:r>
          </a:p>
        </p:txBody>
      </p:sp>
      <p:sp>
        <p:nvSpPr>
          <p:cNvPr id="40" name="مستطيل 39">
            <a:extLst>
              <a:ext uri="{FF2B5EF4-FFF2-40B4-BE49-F238E27FC236}">
                <a16:creationId xmlns:a16="http://schemas.microsoft.com/office/drawing/2014/main" id="{B894DDB0-0D89-494A-83FD-05127BCF55F9}"/>
              </a:ext>
            </a:extLst>
          </p:cNvPr>
          <p:cNvSpPr>
            <a:spLocks noGrp="1"/>
          </p:cNvSpPr>
          <p:nvPr/>
        </p:nvSpPr>
        <p:spPr>
          <a:xfrm>
            <a:off x="9466136" y="5110321"/>
            <a:ext cx="15725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</a:t>
            </a:r>
          </a:p>
        </p:txBody>
      </p:sp>
      <p:sp>
        <p:nvSpPr>
          <p:cNvPr id="41" name="مستطيل 40">
            <a:extLst>
              <a:ext uri="{FF2B5EF4-FFF2-40B4-BE49-F238E27FC236}">
                <a16:creationId xmlns:a16="http://schemas.microsoft.com/office/drawing/2014/main" id="{034D00E4-3CC0-4E1F-BFBF-4611D1F876E7}"/>
              </a:ext>
            </a:extLst>
          </p:cNvPr>
          <p:cNvSpPr>
            <a:spLocks noGrp="1"/>
          </p:cNvSpPr>
          <p:nvPr/>
        </p:nvSpPr>
        <p:spPr>
          <a:xfrm>
            <a:off x="7873841" y="5110321"/>
            <a:ext cx="1534096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reports/analysis</a:t>
            </a:r>
          </a:p>
        </p:txBody>
      </p:sp>
      <p:sp>
        <p:nvSpPr>
          <p:cNvPr id="42" name="مستطيل 41">
            <a:extLst>
              <a:ext uri="{FF2B5EF4-FFF2-40B4-BE49-F238E27FC236}">
                <a16:creationId xmlns:a16="http://schemas.microsoft.com/office/drawing/2014/main" id="{721191C7-5A22-42C1-898E-9217FBB31DCF}"/>
              </a:ext>
            </a:extLst>
          </p:cNvPr>
          <p:cNvSpPr>
            <a:spLocks noGrp="1"/>
          </p:cNvSpPr>
          <p:nvPr/>
        </p:nvSpPr>
        <p:spPr>
          <a:xfrm>
            <a:off x="7690771" y="5110321"/>
            <a:ext cx="124873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215023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مستطيل 30">
            <a:extLst>
              <a:ext uri="{FF2B5EF4-FFF2-40B4-BE49-F238E27FC236}">
                <a16:creationId xmlns:a16="http://schemas.microsoft.com/office/drawing/2014/main" id="{E79A6AD5-0744-4851-91FF-9C607E83232F}"/>
              </a:ext>
            </a:extLst>
          </p:cNvPr>
          <p:cNvSpPr>
            <a:spLocks noGrp="1"/>
          </p:cNvSpPr>
          <p:nvPr/>
        </p:nvSpPr>
        <p:spPr>
          <a:xfrm>
            <a:off x="10580370" y="535305"/>
            <a:ext cx="954405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ملحق: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7441BD1D-D89B-4AEF-A0AE-3F7C70D39402}"/>
              </a:ext>
            </a:extLst>
          </p:cNvPr>
          <p:cNvSpPr>
            <a:spLocks noGrp="1"/>
          </p:cNvSpPr>
          <p:nvPr/>
        </p:nvSpPr>
        <p:spPr>
          <a:xfrm>
            <a:off x="9618821" y="535305"/>
            <a:ext cx="845153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ملفات</a:t>
            </a: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465FA499-6AD2-4AEA-B808-7CCDFEE009F5}"/>
              </a:ext>
            </a:extLst>
          </p:cNvPr>
          <p:cNvSpPr>
            <a:spLocks noGrp="1"/>
          </p:cNvSpPr>
          <p:nvPr/>
        </p:nvSpPr>
        <p:spPr>
          <a:xfrm>
            <a:off x="8179689" y="535305"/>
            <a:ext cx="1322737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التطبيقات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5C0500C4-18DE-4CB0-B3D7-F492477CBA5E}"/>
              </a:ext>
            </a:extLst>
          </p:cNvPr>
          <p:cNvSpPr>
            <a:spLocks noGrp="1"/>
          </p:cNvSpPr>
          <p:nvPr/>
        </p:nvSpPr>
        <p:spPr>
          <a:xfrm>
            <a:off x="6886670" y="535305"/>
            <a:ext cx="1176623" cy="586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300" b="1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والتسليم</a:t>
            </a: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887A3EE4-41BB-45DD-AFB6-154515C9D00F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75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6C7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6" name="جدول 5">
            <a:extLst>
              <a:ext uri="{FF2B5EF4-FFF2-40B4-BE49-F238E27FC236}">
                <a16:creationId xmlns:a16="http://schemas.microsoft.com/office/drawing/2014/main" id="{91EEBBEE-CF38-4051-8F99-AF22B89F4D75}"/>
              </a:ext>
            </a:extLst>
          </p:cNvPr>
          <p:cNvGraphicFramePr/>
          <p:nvPr/>
        </p:nvGraphicFramePr>
        <p:xfrm>
          <a:off x="762000" y="1685925"/>
          <a:ext cx="10668000" cy="3895728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522D6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522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utils/data_loader.py, analysis.py, data_validation.py, ui.py</a:t>
                      </a:r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dashboard/app.py, templates/index.html, static/dashboard.js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index.html, run_streamlit.py/.bat, run_dashboard.py/.bat</a:t>
                      </a:r>
                    </a:p>
                  </a:txBody>
                  <a:tcPr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26182E"/>
                          </a:solidFill>
                          <a:latin typeface="Arial"/>
                          <a:ea typeface="Arial"/>
                          <a:cs typeface="Arial"/>
                        </a:rPr>
                        <a:t>README.md, requirements.txt, DEPLOYMENT_GUIDE.md, reports/</a:t>
                      </a:r>
                    </a:p>
                  </a:txBody>
                  <a:tcPr anchor="ctr">
                    <a:solidFill>
                      <a:srgbClr val="F0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مستطيل 6">
            <a:extLst>
              <a:ext uri="{FF2B5EF4-FFF2-40B4-BE49-F238E27FC236}">
                <a16:creationId xmlns:a16="http://schemas.microsoft.com/office/drawing/2014/main" id="{250343AF-C78F-42D8-B1CD-DC43E06BD7EB}"/>
              </a:ext>
            </a:extLst>
          </p:cNvPr>
          <p:cNvSpPr>
            <a:spLocks noGrp="1"/>
          </p:cNvSpPr>
          <p:nvPr/>
        </p:nvSpPr>
        <p:spPr>
          <a:xfrm>
            <a:off x="4321778" y="1850549"/>
            <a:ext cx="450247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الدور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2FDFEB51-F792-484A-950E-CC590CB87A60}"/>
              </a:ext>
            </a:extLst>
          </p:cNvPr>
          <p:cNvSpPr>
            <a:spLocks noGrp="1"/>
          </p:cNvSpPr>
          <p:nvPr/>
        </p:nvSpPr>
        <p:spPr>
          <a:xfrm>
            <a:off x="10749820" y="1850549"/>
            <a:ext cx="594455" cy="32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الملفات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B4B6E5E7-C4FE-4CEA-A204-757A6AAC5F4F}"/>
              </a:ext>
            </a:extLst>
          </p:cNvPr>
          <p:cNvSpPr>
            <a:spLocks noGrp="1"/>
          </p:cNvSpPr>
          <p:nvPr/>
        </p:nvSpPr>
        <p:spPr>
          <a:xfrm>
            <a:off x="4299204" y="2513171"/>
            <a:ext cx="472821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واجهة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050B1BF1-E925-44EF-89E9-50E2739750C2}"/>
              </a:ext>
            </a:extLst>
          </p:cNvPr>
          <p:cNvSpPr>
            <a:spLocks noGrp="1"/>
          </p:cNvSpPr>
          <p:nvPr/>
        </p:nvSpPr>
        <p:spPr>
          <a:xfrm>
            <a:off x="3347561" y="2513171"/>
            <a:ext cx="893445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5D577BD1-39E6-4D83-B10F-B83D87E4D95E}"/>
              </a:ext>
            </a:extLst>
          </p:cNvPr>
          <p:cNvSpPr>
            <a:spLocks noGrp="1"/>
          </p:cNvSpPr>
          <p:nvPr/>
        </p:nvSpPr>
        <p:spPr>
          <a:xfrm>
            <a:off x="2558796" y="2513171"/>
            <a:ext cx="730567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وصفحاتها</a:t>
            </a: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0F96A329-F950-4CB2-A990-5A873DA545C0}"/>
              </a:ext>
            </a:extLst>
          </p:cNvPr>
          <p:cNvSpPr>
            <a:spLocks noGrp="1"/>
          </p:cNvSpPr>
          <p:nvPr/>
        </p:nvSpPr>
        <p:spPr>
          <a:xfrm>
            <a:off x="10648474" y="2513171"/>
            <a:ext cx="695801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app.py</a:t>
            </a:r>
          </a:p>
        </p:txBody>
      </p: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CBDDF457-7BAE-418C-A0E9-1EB77007E81D}"/>
              </a:ext>
            </a:extLst>
          </p:cNvPr>
          <p:cNvSpPr>
            <a:spLocks noGrp="1"/>
          </p:cNvSpPr>
          <p:nvPr/>
        </p:nvSpPr>
        <p:spPr>
          <a:xfrm>
            <a:off x="10433018" y="2513171"/>
            <a:ext cx="15725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</a:t>
            </a:r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F0A4CD3E-A70A-45BC-A7D4-90ABDEA9F7BC}"/>
              </a:ext>
            </a:extLst>
          </p:cNvPr>
          <p:cNvSpPr>
            <a:spLocks noGrp="1"/>
          </p:cNvSpPr>
          <p:nvPr/>
        </p:nvSpPr>
        <p:spPr>
          <a:xfrm>
            <a:off x="8572595" y="2513171"/>
            <a:ext cx="1802225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pages/1_Overview</a:t>
            </a: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3A578A70-929B-43E0-AEE9-A23FE7EF7FB9}"/>
              </a:ext>
            </a:extLst>
          </p:cNvPr>
          <p:cNvSpPr>
            <a:spLocks noGrp="1"/>
          </p:cNvSpPr>
          <p:nvPr/>
        </p:nvSpPr>
        <p:spPr>
          <a:xfrm>
            <a:off x="8238172" y="2513171"/>
            <a:ext cx="276225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C8A9BB8E-3299-482F-8EA3-83F4AC00D260}"/>
              </a:ext>
            </a:extLst>
          </p:cNvPr>
          <p:cNvSpPr>
            <a:spLocks noGrp="1"/>
          </p:cNvSpPr>
          <p:nvPr/>
        </p:nvSpPr>
        <p:spPr>
          <a:xfrm>
            <a:off x="6540722" y="2513171"/>
            <a:ext cx="1639253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6_Data_Explorer</a:t>
            </a: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BE5B2C73-4864-4D09-96A7-26275F63A0A2}"/>
              </a:ext>
            </a:extLst>
          </p:cNvPr>
          <p:cNvSpPr>
            <a:spLocks noGrp="1"/>
          </p:cNvSpPr>
          <p:nvPr/>
        </p:nvSpPr>
        <p:spPr>
          <a:xfrm>
            <a:off x="4216527" y="3162459"/>
            <a:ext cx="55549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التحميل</a:t>
            </a: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EC9A28C0-3281-4909-8BA8-308FD7D85426}"/>
              </a:ext>
            </a:extLst>
          </p:cNvPr>
          <p:cNvSpPr>
            <a:spLocks noGrp="1"/>
          </p:cNvSpPr>
          <p:nvPr/>
        </p:nvSpPr>
        <p:spPr>
          <a:xfrm>
            <a:off x="3551492" y="3162459"/>
            <a:ext cx="60683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والتحليل</a:t>
            </a:r>
          </a:p>
        </p:txBody>
      </p: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735326AB-1A65-4BAD-B4AF-90D9ED6845AB}"/>
              </a:ext>
            </a:extLst>
          </p:cNvPr>
          <p:cNvSpPr>
            <a:spLocks noGrp="1"/>
          </p:cNvSpPr>
          <p:nvPr/>
        </p:nvSpPr>
        <p:spPr>
          <a:xfrm>
            <a:off x="2910173" y="3162459"/>
            <a:ext cx="583121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والتحقق</a:t>
            </a:r>
          </a:p>
        </p:txBody>
      </p:sp>
      <p:sp>
        <p:nvSpPr>
          <p:cNvPr id="20" name="مستطيل 19">
            <a:extLst>
              <a:ext uri="{FF2B5EF4-FFF2-40B4-BE49-F238E27FC236}">
                <a16:creationId xmlns:a16="http://schemas.microsoft.com/office/drawing/2014/main" id="{6891AF37-86DA-4F5A-BB47-97604BC215B7}"/>
              </a:ext>
            </a:extLst>
          </p:cNvPr>
          <p:cNvSpPr>
            <a:spLocks noGrp="1"/>
          </p:cNvSpPr>
          <p:nvPr/>
        </p:nvSpPr>
        <p:spPr>
          <a:xfrm>
            <a:off x="2221420" y="3162459"/>
            <a:ext cx="630555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والتنسيق</a:t>
            </a:r>
          </a:p>
        </p:txBody>
      </p:sp>
      <p:sp>
        <p:nvSpPr>
          <p:cNvPr id="21" name="مستطيل 20">
            <a:extLst>
              <a:ext uri="{FF2B5EF4-FFF2-40B4-BE49-F238E27FC236}">
                <a16:creationId xmlns:a16="http://schemas.microsoft.com/office/drawing/2014/main" id="{56A3044C-DF75-43A7-B98F-6FC3B6EE5B4C}"/>
              </a:ext>
            </a:extLst>
          </p:cNvPr>
          <p:cNvSpPr>
            <a:spLocks noGrp="1"/>
          </p:cNvSpPr>
          <p:nvPr/>
        </p:nvSpPr>
        <p:spPr>
          <a:xfrm>
            <a:off x="4308157" y="3811746"/>
            <a:ext cx="46386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تطبيق</a:t>
            </a: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DD784C80-2D20-4695-8D3A-9EBAAE3C90E5}"/>
              </a:ext>
            </a:extLst>
          </p:cNvPr>
          <p:cNvSpPr>
            <a:spLocks noGrp="1"/>
          </p:cNvSpPr>
          <p:nvPr/>
        </p:nvSpPr>
        <p:spPr>
          <a:xfrm>
            <a:off x="3682651" y="3811746"/>
            <a:ext cx="567309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Flask</a:t>
            </a: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7B9671A4-C4C9-400C-8F34-C3ADA3A6896C}"/>
              </a:ext>
            </a:extLst>
          </p:cNvPr>
          <p:cNvSpPr>
            <a:spLocks noGrp="1"/>
          </p:cNvSpPr>
          <p:nvPr/>
        </p:nvSpPr>
        <p:spPr>
          <a:xfrm>
            <a:off x="3061144" y="3811746"/>
            <a:ext cx="56330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وواجهة</a:t>
            </a:r>
          </a:p>
        </p:txBody>
      </p:sp>
      <p:sp>
        <p:nvSpPr>
          <p:cNvPr id="24" name="مستطيل 23">
            <a:extLst>
              <a:ext uri="{FF2B5EF4-FFF2-40B4-BE49-F238E27FC236}">
                <a16:creationId xmlns:a16="http://schemas.microsoft.com/office/drawing/2014/main" id="{E206124E-8618-4236-A3A6-CD885364800B}"/>
              </a:ext>
            </a:extLst>
          </p:cNvPr>
          <p:cNvSpPr>
            <a:spLocks noGrp="1"/>
          </p:cNvSpPr>
          <p:nvPr/>
        </p:nvSpPr>
        <p:spPr>
          <a:xfrm>
            <a:off x="2373249" y="3811746"/>
            <a:ext cx="62969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المتصفح</a:t>
            </a:r>
          </a:p>
        </p:txBody>
      </p:sp>
      <p:sp>
        <p:nvSpPr>
          <p:cNvPr id="25" name="مستطيل 24">
            <a:extLst>
              <a:ext uri="{FF2B5EF4-FFF2-40B4-BE49-F238E27FC236}">
                <a16:creationId xmlns:a16="http://schemas.microsoft.com/office/drawing/2014/main" id="{5782D562-68C2-40F4-92BC-A6C252375232}"/>
              </a:ext>
            </a:extLst>
          </p:cNvPr>
          <p:cNvSpPr>
            <a:spLocks noGrp="1"/>
          </p:cNvSpPr>
          <p:nvPr/>
        </p:nvSpPr>
        <p:spPr>
          <a:xfrm>
            <a:off x="4303776" y="4461034"/>
            <a:ext cx="468249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البوابة</a:t>
            </a:r>
          </a:p>
        </p:txBody>
      </p:sp>
      <p:sp>
        <p:nvSpPr>
          <p:cNvPr id="26" name="مستطيل 25">
            <a:extLst>
              <a:ext uri="{FF2B5EF4-FFF2-40B4-BE49-F238E27FC236}">
                <a16:creationId xmlns:a16="http://schemas.microsoft.com/office/drawing/2014/main" id="{195D3E81-BD49-462B-9B79-E6107D580C5C}"/>
              </a:ext>
            </a:extLst>
          </p:cNvPr>
          <p:cNvSpPr>
            <a:spLocks noGrp="1"/>
          </p:cNvSpPr>
          <p:nvPr/>
        </p:nvSpPr>
        <p:spPr>
          <a:xfrm>
            <a:off x="3536632" y="4461034"/>
            <a:ext cx="708946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ومشغلات</a:t>
            </a:r>
          </a:p>
        </p:txBody>
      </p:sp>
      <p:sp>
        <p:nvSpPr>
          <p:cNvPr id="27" name="مستطيل 26">
            <a:extLst>
              <a:ext uri="{FF2B5EF4-FFF2-40B4-BE49-F238E27FC236}">
                <a16:creationId xmlns:a16="http://schemas.microsoft.com/office/drawing/2014/main" id="{15FE8E16-614F-4120-A285-51101FAECF06}"/>
              </a:ext>
            </a:extLst>
          </p:cNvPr>
          <p:cNvSpPr>
            <a:spLocks noGrp="1"/>
          </p:cNvSpPr>
          <p:nvPr/>
        </p:nvSpPr>
        <p:spPr>
          <a:xfrm>
            <a:off x="2833211" y="4461034"/>
            <a:ext cx="645224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التطبيقين</a:t>
            </a:r>
          </a:p>
        </p:txBody>
      </p:sp>
      <p:sp>
        <p:nvSpPr>
          <p:cNvPr id="28" name="مستطيل 27">
            <a:extLst>
              <a:ext uri="{FF2B5EF4-FFF2-40B4-BE49-F238E27FC236}">
                <a16:creationId xmlns:a16="http://schemas.microsoft.com/office/drawing/2014/main" id="{21C9C412-B989-4213-9871-7D44E2654848}"/>
              </a:ext>
            </a:extLst>
          </p:cNvPr>
          <p:cNvSpPr>
            <a:spLocks noGrp="1"/>
          </p:cNvSpPr>
          <p:nvPr/>
        </p:nvSpPr>
        <p:spPr>
          <a:xfrm>
            <a:off x="4252722" y="5110321"/>
            <a:ext cx="519303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التوثيق</a:t>
            </a:r>
          </a:p>
        </p:txBody>
      </p:sp>
      <p:sp>
        <p:nvSpPr>
          <p:cNvPr id="29" name="مستطيل 28">
            <a:extLst>
              <a:ext uri="{FF2B5EF4-FFF2-40B4-BE49-F238E27FC236}">
                <a16:creationId xmlns:a16="http://schemas.microsoft.com/office/drawing/2014/main" id="{04383649-8BDB-4267-9819-364456291964}"/>
              </a:ext>
            </a:extLst>
          </p:cNvPr>
          <p:cNvSpPr>
            <a:spLocks noGrp="1"/>
          </p:cNvSpPr>
          <p:nvPr/>
        </p:nvSpPr>
        <p:spPr>
          <a:xfrm>
            <a:off x="3402806" y="5110321"/>
            <a:ext cx="791718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والمتطلبات</a:t>
            </a:r>
          </a:p>
        </p:txBody>
      </p:sp>
      <p:sp>
        <p:nvSpPr>
          <p:cNvPr id="30" name="مستطيل 29">
            <a:extLst>
              <a:ext uri="{FF2B5EF4-FFF2-40B4-BE49-F238E27FC236}">
                <a16:creationId xmlns:a16="http://schemas.microsoft.com/office/drawing/2014/main" id="{36146CFA-1292-4FB5-AECC-699EA83BF951}"/>
              </a:ext>
            </a:extLst>
          </p:cNvPr>
          <p:cNvSpPr>
            <a:spLocks noGrp="1"/>
          </p:cNvSpPr>
          <p:nvPr/>
        </p:nvSpPr>
        <p:spPr>
          <a:xfrm>
            <a:off x="2690336" y="5110321"/>
            <a:ext cx="654272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2618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82E"/>
                </a:solidFill>
                <a:latin typeface="Arial"/>
                <a:ea typeface="Arial"/>
                <a:cs typeface="Arial"/>
              </a:rPr>
              <a:t>والتقارير</a:t>
            </a:r>
          </a:p>
        </p:txBody>
      </p:sp>
    </p:spTree>
    <p:extLst>
      <p:ext uri="{BB962C8B-B14F-4D97-AF65-F5344CB8AC3E}">
        <p14:creationId xmlns:p14="http://schemas.microsoft.com/office/powerpoint/2010/main" val="16231122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1524</Words>
  <Application>Microsoft Office PowerPoint</Application>
  <DocSecurity>0</DocSecurity>
  <PresentationFormat>شاشة عريضة</PresentationFormat>
  <Paragraphs>564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1" baseType="lpstr">
      <vt:lpstr>Aptos</vt:lpstr>
      <vt:lpstr>Arial</vt:lpstr>
      <vt:lpstr>ChatGPT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Khalil Yasser</cp:lastModifiedBy>
  <cp:revision>2</cp:revision>
  <dcterms:created xsi:type="dcterms:W3CDTF">2026-10-18T11:55:02Z</dcterms:created>
  <dcterms:modified xsi:type="dcterms:W3CDTF">2026-10-18T12:05:01Z</dcterms:modified>
</cp:coreProperties>
</file>